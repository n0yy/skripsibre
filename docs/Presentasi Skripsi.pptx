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21"/>
  </p:notesMasterIdLst>
  <p:sldIdLst>
    <p:sldId id="256" r:id="rId2"/>
    <p:sldId id="258" r:id="rId3"/>
    <p:sldId id="271" r:id="rId4"/>
    <p:sldId id="259" r:id="rId5"/>
    <p:sldId id="260" r:id="rId6"/>
    <p:sldId id="261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275" r:id="rId20"/>
  </p:sldIdLst>
  <p:sldSz cx="9144000" cy="5143500" type="screen16x9"/>
  <p:notesSz cx="6858000" cy="9144000"/>
  <p:embeddedFontLst>
    <p:embeddedFont>
      <p:font typeface="Kanit" panose="020B0604020202020204" charset="-34"/>
      <p:regular r:id="rId22"/>
      <p:bold r:id="rId23"/>
      <p:italic r:id="rId24"/>
      <p:boldItalic r:id="rId25"/>
    </p:embeddedFont>
    <p:embeddedFont>
      <p:font typeface="Kanit Light" panose="020B0604020202020204" charset="-34"/>
      <p:regular r:id="rId26"/>
      <p:bold r:id="rId27"/>
      <p:italic r:id="rId28"/>
      <p:boldItalic r:id="rId29"/>
    </p:embeddedFont>
    <p:embeddedFont>
      <p:font typeface="Open Sans Light" panose="020B0306030504020204" pitchFamily="34" charset="0"/>
      <p:regular r:id="rId30"/>
      <p:italic r:id="rId31"/>
    </p:embeddedFont>
    <p:embeddedFont>
      <p:font typeface="Orbitron" panose="020B0604020202020204" charset="0"/>
      <p:regular r:id="rId32"/>
      <p:bold r:id="rId33"/>
    </p:embeddedFont>
    <p:embeddedFont>
      <p:font typeface="Raleway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35E079A-DA70-448B-9981-C551FF58829A}">
  <a:tblStyle styleId="{E35E079A-DA70-448B-9981-C551FF58829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1719ED7-F039-485C-9051-1A437B7BFF0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70" d="100"/>
          <a:sy n="170" d="100"/>
        </p:scale>
        <p:origin x="2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viewProps" Target="viewProp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ff18b49f31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ff18b49f31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1ff18b49f31_1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1ff18b49f31_1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10860aa5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10860aa5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10860aa5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10860aa5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0104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925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70583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8569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75164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29424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45232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34777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16324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40090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98657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59926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1125d80b419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1125d80b419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://bit.ly/2TyoMsr" TargetMode="External"/><Relationship Id="rId4" Type="http://schemas.openxmlformats.org/officeDocument/2006/relationships/hyperlink" Target="https://bit.ly/3A1uf1Q" TargetMode="Externa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654450" y="1307025"/>
            <a:ext cx="5682300" cy="19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654575" y="3450425"/>
            <a:ext cx="5682300" cy="4095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8657175" y="772575"/>
            <a:ext cx="74100" cy="1788450"/>
            <a:chOff x="8657175" y="772575"/>
            <a:chExt cx="74100" cy="1788450"/>
          </a:xfrm>
        </p:grpSpPr>
        <p:sp>
          <p:nvSpPr>
            <p:cNvPr id="14" name="Google Shape;14;p2"/>
            <p:cNvSpPr/>
            <p:nvPr/>
          </p:nvSpPr>
          <p:spPr>
            <a:xfrm>
              <a:off x="8657175" y="77257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657175" y="2304150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657175" y="248392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sp>
        <p:nvSpPr>
          <p:cNvPr id="17" name="Google Shape;17;p2"/>
          <p:cNvSpPr/>
          <p:nvPr/>
        </p:nvSpPr>
        <p:spPr>
          <a:xfrm>
            <a:off x="8809575" y="4485025"/>
            <a:ext cx="74100" cy="7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8657175" y="4637450"/>
            <a:ext cx="74100" cy="7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8809575" y="4789875"/>
            <a:ext cx="74100" cy="7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grpSp>
        <p:nvGrpSpPr>
          <p:cNvPr id="20" name="Google Shape;20;p2"/>
          <p:cNvGrpSpPr/>
          <p:nvPr/>
        </p:nvGrpSpPr>
        <p:grpSpPr>
          <a:xfrm>
            <a:off x="205650" y="308475"/>
            <a:ext cx="150300" cy="378950"/>
            <a:chOff x="205650" y="308475"/>
            <a:chExt cx="150300" cy="378950"/>
          </a:xfrm>
        </p:grpSpPr>
        <p:sp>
          <p:nvSpPr>
            <p:cNvPr id="21" name="Google Shape;21;p2"/>
            <p:cNvSpPr/>
            <p:nvPr/>
          </p:nvSpPr>
          <p:spPr>
            <a:xfrm>
              <a:off x="205650" y="30847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81850" y="460900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05650" y="61332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" name="Google Shape;24;p2"/>
          <p:cNvGrpSpPr/>
          <p:nvPr/>
        </p:nvGrpSpPr>
        <p:grpSpPr>
          <a:xfrm>
            <a:off x="1085475" y="4711575"/>
            <a:ext cx="536998" cy="134100"/>
            <a:chOff x="1085475" y="4711575"/>
            <a:chExt cx="536998" cy="134100"/>
          </a:xfrm>
        </p:grpSpPr>
        <p:sp>
          <p:nvSpPr>
            <p:cNvPr id="25" name="Google Shape;25;p2"/>
            <p:cNvSpPr/>
            <p:nvPr/>
          </p:nvSpPr>
          <p:spPr>
            <a:xfrm>
              <a:off x="1085475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219774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354074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488373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3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"/>
          <p:cNvPicPr preferRelativeResize="0"/>
          <p:nvPr/>
        </p:nvPicPr>
        <p:blipFill rotWithShape="1">
          <a:blip r:embed="rId3">
            <a:alphaModFix/>
          </a:blip>
          <a:srcRect t="13217"/>
          <a:stretch/>
        </p:blipFill>
        <p:spPr>
          <a:xfrm>
            <a:off x="-330675" y="565023"/>
            <a:ext cx="9557898" cy="466577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2391900" y="2409526"/>
            <a:ext cx="43602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title" idx="2" hasCustomPrompt="1"/>
          </p:nvPr>
        </p:nvSpPr>
        <p:spPr>
          <a:xfrm>
            <a:off x="4027150" y="1352695"/>
            <a:ext cx="1089900" cy="102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34" name="Google Shape;34;p3"/>
          <p:cNvGrpSpPr/>
          <p:nvPr/>
        </p:nvGrpSpPr>
        <p:grpSpPr>
          <a:xfrm>
            <a:off x="1112875" y="367875"/>
            <a:ext cx="1788450" cy="74100"/>
            <a:chOff x="1112875" y="367875"/>
            <a:chExt cx="1788450" cy="74100"/>
          </a:xfrm>
        </p:grpSpPr>
        <p:sp>
          <p:nvSpPr>
            <p:cNvPr id="35" name="Google Shape;35;p3"/>
            <p:cNvSpPr/>
            <p:nvPr/>
          </p:nvSpPr>
          <p:spPr>
            <a:xfrm rot="-5400000">
              <a:off x="1790275" y="-30952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2645950" y="36637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 rot="-5400000">
              <a:off x="2825725" y="36637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38" name="Google Shape;38;p3"/>
          <p:cNvGrpSpPr/>
          <p:nvPr/>
        </p:nvGrpSpPr>
        <p:grpSpPr>
          <a:xfrm>
            <a:off x="1085475" y="4711575"/>
            <a:ext cx="536998" cy="134100"/>
            <a:chOff x="1085475" y="4711575"/>
            <a:chExt cx="536998" cy="134100"/>
          </a:xfrm>
        </p:grpSpPr>
        <p:sp>
          <p:nvSpPr>
            <p:cNvPr id="39" name="Google Shape;39;p3"/>
            <p:cNvSpPr/>
            <p:nvPr/>
          </p:nvSpPr>
          <p:spPr>
            <a:xfrm>
              <a:off x="1085475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1219774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1354074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1488373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>
            <a:spLocks noGrp="1"/>
          </p:cNvSpPr>
          <p:nvPr>
            <p:ph type="subTitle" idx="1"/>
          </p:nvPr>
        </p:nvSpPr>
        <p:spPr>
          <a:xfrm>
            <a:off x="1013450" y="1817100"/>
            <a:ext cx="3288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ubTitle" idx="2"/>
          </p:nvPr>
        </p:nvSpPr>
        <p:spPr>
          <a:xfrm>
            <a:off x="4683250" y="1817100"/>
            <a:ext cx="34473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ubTitle" idx="3"/>
          </p:nvPr>
        </p:nvSpPr>
        <p:spPr>
          <a:xfrm>
            <a:off x="1013450" y="2686775"/>
            <a:ext cx="3288000" cy="12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ubTitle" idx="4"/>
          </p:nvPr>
        </p:nvSpPr>
        <p:spPr>
          <a:xfrm>
            <a:off x="4683250" y="2686775"/>
            <a:ext cx="3447300" cy="12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53" name="Google Shape;5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8504775" y="4104025"/>
            <a:ext cx="74100" cy="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8352375" y="4256450"/>
            <a:ext cx="74100" cy="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8504775" y="4408875"/>
            <a:ext cx="74100" cy="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57" name="Google Shape;57;p5"/>
          <p:cNvPicPr preferRelativeResize="0"/>
          <p:nvPr/>
        </p:nvPicPr>
        <p:blipFill rotWithShape="1">
          <a:blip r:embed="rId3">
            <a:alphaModFix amt="70000"/>
          </a:blip>
          <a:srcRect r="46170" b="42243"/>
          <a:stretch/>
        </p:blipFill>
        <p:spPr>
          <a:xfrm flipH="1">
            <a:off x="5856008" y="0"/>
            <a:ext cx="3287992" cy="198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54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body" idx="1"/>
          </p:nvPr>
        </p:nvSpPr>
        <p:spPr>
          <a:xfrm>
            <a:off x="720000" y="1547575"/>
            <a:ext cx="4549500" cy="26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7"/>
          <p:cNvSpPr>
            <a:spLocks noGrp="1"/>
          </p:cNvSpPr>
          <p:nvPr>
            <p:ph type="pic" idx="2"/>
          </p:nvPr>
        </p:nvSpPr>
        <p:spPr>
          <a:xfrm>
            <a:off x="5831400" y="756200"/>
            <a:ext cx="2526600" cy="3699600"/>
          </a:xfrm>
          <a:prstGeom prst="snip1Rect">
            <a:avLst>
              <a:gd name="adj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66" name="Google Shape;6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3">
            <a:alphaModFix amt="60000"/>
          </a:blip>
          <a:srcRect l="38540" t="43939"/>
          <a:stretch/>
        </p:blipFill>
        <p:spPr>
          <a:xfrm flipH="1">
            <a:off x="0" y="2807025"/>
            <a:ext cx="4553876" cy="233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9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>
            <a:spLocks noGrp="1"/>
          </p:cNvSpPr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subTitle" idx="1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2" hasCustomPrompt="1"/>
          </p:nvPr>
        </p:nvSpPr>
        <p:spPr>
          <a:xfrm>
            <a:off x="862325" y="14808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3" hasCustomPrompt="1"/>
          </p:nvPr>
        </p:nvSpPr>
        <p:spPr>
          <a:xfrm>
            <a:off x="862325" y="29142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 idx="4" hasCustomPrompt="1"/>
          </p:nvPr>
        </p:nvSpPr>
        <p:spPr>
          <a:xfrm>
            <a:off x="3554100" y="14808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5" hasCustomPrompt="1"/>
          </p:nvPr>
        </p:nvSpPr>
        <p:spPr>
          <a:xfrm>
            <a:off x="3554100" y="29142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6" hasCustomPrompt="1"/>
          </p:nvPr>
        </p:nvSpPr>
        <p:spPr>
          <a:xfrm>
            <a:off x="6260875" y="14808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7" hasCustomPrompt="1"/>
          </p:nvPr>
        </p:nvSpPr>
        <p:spPr>
          <a:xfrm>
            <a:off x="6260875" y="29142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"/>
          </p:nvPr>
        </p:nvSpPr>
        <p:spPr>
          <a:xfrm>
            <a:off x="862325" y="1984475"/>
            <a:ext cx="2035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8"/>
          </p:nvPr>
        </p:nvSpPr>
        <p:spPr>
          <a:xfrm>
            <a:off x="3554100" y="1984475"/>
            <a:ext cx="2035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9"/>
          </p:nvPr>
        </p:nvSpPr>
        <p:spPr>
          <a:xfrm>
            <a:off x="6260875" y="1984475"/>
            <a:ext cx="2020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13"/>
          </p:nvPr>
        </p:nvSpPr>
        <p:spPr>
          <a:xfrm>
            <a:off x="862325" y="3417950"/>
            <a:ext cx="2035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14"/>
          </p:nvPr>
        </p:nvSpPr>
        <p:spPr>
          <a:xfrm>
            <a:off x="3554100" y="3417950"/>
            <a:ext cx="20172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5"/>
          </p:nvPr>
        </p:nvSpPr>
        <p:spPr>
          <a:xfrm>
            <a:off x="6260875" y="3417950"/>
            <a:ext cx="2020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pic>
        <p:nvPicPr>
          <p:cNvPr id="108" name="Google Shape;108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3"/>
          <p:cNvPicPr preferRelativeResize="0"/>
          <p:nvPr/>
        </p:nvPicPr>
        <p:blipFill rotWithShape="1">
          <a:blip r:embed="rId3">
            <a:alphaModFix amt="70000"/>
          </a:blip>
          <a:srcRect r="46170" b="42243"/>
          <a:stretch/>
        </p:blipFill>
        <p:spPr>
          <a:xfrm flipH="1">
            <a:off x="5856008" y="0"/>
            <a:ext cx="3287992" cy="1984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8504775" y="4180225"/>
            <a:ext cx="74100" cy="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8352375" y="4332650"/>
            <a:ext cx="74100" cy="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8504775" y="4485075"/>
            <a:ext cx="74100" cy="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115" name="Google Shape;11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/>
          <p:cNvPicPr preferRelativeResize="0"/>
          <p:nvPr/>
        </p:nvPicPr>
        <p:blipFill rotWithShape="1">
          <a:blip r:embed="rId3">
            <a:alphaModFix amt="70000"/>
          </a:blip>
          <a:srcRect r="46170" b="42243"/>
          <a:stretch/>
        </p:blipFill>
        <p:spPr>
          <a:xfrm flipH="1">
            <a:off x="5856008" y="0"/>
            <a:ext cx="3287992" cy="198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0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>
            <a:spLocks noGrp="1"/>
          </p:cNvSpPr>
          <p:nvPr>
            <p:ph type="ctrTitle"/>
          </p:nvPr>
        </p:nvSpPr>
        <p:spPr>
          <a:xfrm>
            <a:off x="2382250" y="839800"/>
            <a:ext cx="43794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1" name="Google Shape;181;p20"/>
          <p:cNvSpPr txBox="1">
            <a:spLocks noGrp="1"/>
          </p:cNvSpPr>
          <p:nvPr>
            <p:ph type="subTitle" idx="1"/>
          </p:nvPr>
        </p:nvSpPr>
        <p:spPr>
          <a:xfrm>
            <a:off x="2382350" y="1852800"/>
            <a:ext cx="4379400" cy="11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2382325" y="3487250"/>
            <a:ext cx="4379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rPr>
              <a:t>CREDITS: This presentation template was created by </a:t>
            </a:r>
            <a:r>
              <a:rPr lang="en" sz="1000" u="sng">
                <a:solidFill>
                  <a:schemeClr val="hlink"/>
                </a:solidFill>
                <a:latin typeface="Kanit Light"/>
                <a:ea typeface="Kanit Light"/>
                <a:cs typeface="Kanit Light"/>
                <a:sym typeface="Kanit Light"/>
                <a:hlinkClick r:id="rId4"/>
              </a:rPr>
              <a:t>Slidesgo</a:t>
            </a:r>
            <a:r>
              <a:rPr lang="en" sz="1000" u="sng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rPr>
              <a:t>, </a:t>
            </a:r>
            <a:r>
              <a:rPr lang="en" sz="10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rPr>
              <a:t>and includes icons by </a:t>
            </a:r>
            <a:r>
              <a:rPr lang="en" sz="1000" u="sng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u="sng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rPr>
              <a:t>,</a:t>
            </a:r>
            <a:r>
              <a:rPr lang="en" sz="10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rPr>
              <a:t> and infographics &amp; images by </a:t>
            </a:r>
            <a:r>
              <a:rPr lang="en" sz="1000" u="sng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u="sng">
              <a:solidFill>
                <a:schemeClr val="dk1"/>
              </a:solidFill>
              <a:latin typeface="Kanit Light"/>
              <a:ea typeface="Kanit Light"/>
              <a:cs typeface="Kanit Light"/>
              <a:sym typeface="Kanit Ligh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1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2"/>
          <p:cNvPicPr preferRelativeResize="0"/>
          <p:nvPr/>
        </p:nvPicPr>
        <p:blipFill rotWithShape="1">
          <a:blip r:embed="rId3">
            <a:alphaModFix amt="70000"/>
          </a:blip>
          <a:srcRect r="46170" b="42243"/>
          <a:stretch/>
        </p:blipFill>
        <p:spPr>
          <a:xfrm flipH="1">
            <a:off x="5856008" y="0"/>
            <a:ext cx="3287992" cy="198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3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●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○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■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●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○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■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●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○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■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8" r:id="rId7"/>
    <p:sldLayoutId id="2147483659" r:id="rId8"/>
    <p:sldLayoutId id="2147483660" r:id="rId9"/>
    <p:sldLayoutId id="2147483666" r:id="rId10"/>
    <p:sldLayoutId id="2147483667" r:id="rId11"/>
    <p:sldLayoutId id="2147483668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>
            <a:spLocks noGrp="1"/>
          </p:cNvSpPr>
          <p:nvPr>
            <p:ph type="ctrTitle"/>
          </p:nvPr>
        </p:nvSpPr>
        <p:spPr>
          <a:xfrm>
            <a:off x="1654450" y="1307025"/>
            <a:ext cx="5682300" cy="19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400" dirty="0" err="1"/>
              <a:t>Implementasi</a:t>
            </a:r>
            <a:r>
              <a:rPr lang="en-ID" sz="2400" dirty="0"/>
              <a:t> Semantic Search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Sistem</a:t>
            </a:r>
            <a:r>
              <a:rPr lang="en-ID" sz="2400" dirty="0"/>
              <a:t> </a:t>
            </a:r>
            <a:r>
              <a:rPr lang="en-ID" sz="2400" dirty="0" err="1"/>
              <a:t>Rekomendasi</a:t>
            </a:r>
            <a:r>
              <a:rPr lang="en-ID" sz="2400" dirty="0"/>
              <a:t> </a:t>
            </a:r>
            <a:r>
              <a:rPr lang="en-ID" sz="2400" dirty="0" err="1"/>
              <a:t>Buku</a:t>
            </a:r>
            <a:r>
              <a:rPr lang="en-ID" sz="2400" dirty="0"/>
              <a:t> di Gramedia</a:t>
            </a:r>
            <a:endParaRPr sz="2400" dirty="0"/>
          </a:p>
        </p:txBody>
      </p:sp>
      <p:sp>
        <p:nvSpPr>
          <p:cNvPr id="200" name="Google Shape;200;p26"/>
          <p:cNvSpPr txBox="1">
            <a:spLocks noGrp="1"/>
          </p:cNvSpPr>
          <p:nvPr>
            <p:ph type="subTitle" idx="1"/>
          </p:nvPr>
        </p:nvSpPr>
        <p:spPr>
          <a:xfrm>
            <a:off x="1654575" y="3450425"/>
            <a:ext cx="56823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/>
              <a:t>text-embedding-004 + Cosine Similarity</a:t>
            </a:r>
            <a:endParaRPr sz="1100" i="1" dirty="0"/>
          </a:p>
        </p:txBody>
      </p:sp>
      <p:grpSp>
        <p:nvGrpSpPr>
          <p:cNvPr id="201" name="Google Shape;201;p26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02" name="Google Shape;202;p26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25" name="Google Shape;225;p28"/>
          <p:cNvSpPr txBox="1">
            <a:spLocks noGrp="1"/>
          </p:cNvSpPr>
          <p:nvPr>
            <p:ph type="title" idx="2"/>
          </p:nvPr>
        </p:nvSpPr>
        <p:spPr>
          <a:xfrm>
            <a:off x="862325" y="14808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26" name="Google Shape;226;p28"/>
          <p:cNvSpPr txBox="1">
            <a:spLocks noGrp="1"/>
          </p:cNvSpPr>
          <p:nvPr>
            <p:ph type="title" idx="3"/>
          </p:nvPr>
        </p:nvSpPr>
        <p:spPr>
          <a:xfrm>
            <a:off x="862325" y="29142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27" name="Google Shape;227;p28"/>
          <p:cNvSpPr txBox="1">
            <a:spLocks noGrp="1"/>
          </p:cNvSpPr>
          <p:nvPr>
            <p:ph type="title" idx="4"/>
          </p:nvPr>
        </p:nvSpPr>
        <p:spPr>
          <a:xfrm>
            <a:off x="3554100" y="14808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28" name="Google Shape;228;p28"/>
          <p:cNvSpPr txBox="1">
            <a:spLocks noGrp="1"/>
          </p:cNvSpPr>
          <p:nvPr>
            <p:ph type="title" idx="5"/>
          </p:nvPr>
        </p:nvSpPr>
        <p:spPr>
          <a:xfrm>
            <a:off x="3554100" y="29142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29" name="Google Shape;229;p28"/>
          <p:cNvSpPr txBox="1">
            <a:spLocks noGrp="1"/>
          </p:cNvSpPr>
          <p:nvPr>
            <p:ph type="title" idx="6"/>
          </p:nvPr>
        </p:nvSpPr>
        <p:spPr>
          <a:xfrm>
            <a:off x="6260875" y="14808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30" name="Google Shape;230;p28"/>
          <p:cNvSpPr txBox="1">
            <a:spLocks noGrp="1"/>
          </p:cNvSpPr>
          <p:nvPr>
            <p:ph type="title" idx="7"/>
          </p:nvPr>
        </p:nvSpPr>
        <p:spPr>
          <a:xfrm>
            <a:off x="6260875" y="29142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231" name="Google Shape;231;p28"/>
          <p:cNvSpPr txBox="1">
            <a:spLocks noGrp="1"/>
          </p:cNvSpPr>
          <p:nvPr>
            <p:ph type="subTitle" idx="1"/>
          </p:nvPr>
        </p:nvSpPr>
        <p:spPr>
          <a:xfrm>
            <a:off x="862325" y="1984475"/>
            <a:ext cx="2035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 err="1"/>
              <a:t>Latar</a:t>
            </a:r>
            <a:r>
              <a:rPr lang="en-ID" dirty="0"/>
              <a:t> </a:t>
            </a:r>
            <a:r>
              <a:rPr lang="en-ID" dirty="0" err="1"/>
              <a:t>Belakang</a:t>
            </a:r>
            <a:endParaRPr lang="en-ID" dirty="0"/>
          </a:p>
        </p:txBody>
      </p:sp>
      <p:sp>
        <p:nvSpPr>
          <p:cNvPr id="232" name="Google Shape;232;p28"/>
          <p:cNvSpPr txBox="1">
            <a:spLocks noGrp="1"/>
          </p:cNvSpPr>
          <p:nvPr>
            <p:ph type="subTitle" idx="8"/>
          </p:nvPr>
        </p:nvSpPr>
        <p:spPr>
          <a:xfrm>
            <a:off x="3554100" y="1984475"/>
            <a:ext cx="2035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ID" dirty="0" err="1"/>
              <a:t>Identifikasi</a:t>
            </a:r>
            <a:r>
              <a:rPr lang="en-ID" dirty="0"/>
              <a:t> </a:t>
            </a:r>
            <a:r>
              <a:rPr lang="en-ID" dirty="0" err="1"/>
              <a:t>Masalah</a:t>
            </a:r>
            <a:endParaRPr lang="en-ID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28"/>
          <p:cNvSpPr txBox="1">
            <a:spLocks noGrp="1"/>
          </p:cNvSpPr>
          <p:nvPr>
            <p:ph type="subTitle" idx="9"/>
          </p:nvPr>
        </p:nvSpPr>
        <p:spPr>
          <a:xfrm>
            <a:off x="6260875" y="1984475"/>
            <a:ext cx="2020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ID" dirty="0"/>
              <a:t>Batasan </a:t>
            </a:r>
            <a:r>
              <a:rPr lang="en-ID" dirty="0" err="1"/>
              <a:t>Masalah</a:t>
            </a:r>
            <a:endParaRPr lang="en-ID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4" name="Google Shape;234;p28"/>
          <p:cNvSpPr txBox="1">
            <a:spLocks noGrp="1"/>
          </p:cNvSpPr>
          <p:nvPr>
            <p:ph type="subTitle" idx="13"/>
          </p:nvPr>
        </p:nvSpPr>
        <p:spPr>
          <a:xfrm>
            <a:off x="862325" y="3417950"/>
            <a:ext cx="2035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 err="1"/>
              <a:t>Rumusan</a:t>
            </a:r>
            <a:r>
              <a:rPr lang="en-ID" dirty="0"/>
              <a:t> </a:t>
            </a:r>
            <a:r>
              <a:rPr lang="en-ID" dirty="0" err="1"/>
              <a:t>Masalah</a:t>
            </a:r>
            <a:endParaRPr lang="en-ID" dirty="0"/>
          </a:p>
        </p:txBody>
      </p:sp>
      <p:sp>
        <p:nvSpPr>
          <p:cNvPr id="235" name="Google Shape;235;p28"/>
          <p:cNvSpPr txBox="1">
            <a:spLocks noGrp="1"/>
          </p:cNvSpPr>
          <p:nvPr>
            <p:ph type="subTitle" idx="14"/>
          </p:nvPr>
        </p:nvSpPr>
        <p:spPr>
          <a:xfrm>
            <a:off x="3554100" y="3417950"/>
            <a:ext cx="20172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 err="1"/>
              <a:t>Tujuan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	</a:t>
            </a:r>
          </a:p>
        </p:txBody>
      </p:sp>
      <p:sp>
        <p:nvSpPr>
          <p:cNvPr id="236" name="Google Shape;236;p28"/>
          <p:cNvSpPr txBox="1">
            <a:spLocks noGrp="1"/>
          </p:cNvSpPr>
          <p:nvPr>
            <p:ph type="subTitle" idx="15"/>
          </p:nvPr>
        </p:nvSpPr>
        <p:spPr>
          <a:xfrm>
            <a:off x="6260875" y="3417950"/>
            <a:ext cx="2020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 err="1"/>
              <a:t>Manfaat</a:t>
            </a:r>
            <a:r>
              <a:rPr lang="en-ID" dirty="0"/>
              <a:t> </a:t>
            </a:r>
            <a:r>
              <a:rPr lang="en-ID" dirty="0" err="1"/>
              <a:t>Penelitian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41"/>
          <p:cNvPicPr preferRelativeResize="0"/>
          <p:nvPr/>
        </p:nvPicPr>
        <p:blipFill>
          <a:blip r:embed="rId3"/>
          <a:srcRect/>
          <a:stretch/>
        </p:blipFill>
        <p:spPr>
          <a:xfrm>
            <a:off x="757050" y="1093575"/>
            <a:ext cx="1097400" cy="10974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50" name="Google Shape;450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Who I am?</a:t>
            </a:r>
            <a:endParaRPr dirty="0"/>
          </a:p>
        </p:txBody>
      </p:sp>
      <p:sp>
        <p:nvSpPr>
          <p:cNvPr id="451" name="Google Shape;451;p41"/>
          <p:cNvSpPr txBox="1">
            <a:spLocks noGrp="1"/>
          </p:cNvSpPr>
          <p:nvPr>
            <p:ph type="subTitle" idx="4294967295"/>
          </p:nvPr>
        </p:nvSpPr>
        <p:spPr>
          <a:xfrm>
            <a:off x="2215631" y="2585115"/>
            <a:ext cx="3633000" cy="48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Orbitron"/>
                <a:ea typeface="Orbitron"/>
                <a:cs typeface="Orbitron"/>
                <a:sym typeface="Orbitron"/>
              </a:rPr>
              <a:t>Bio</a:t>
            </a:r>
            <a:endParaRPr sz="1600" dirty="0"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452" name="Google Shape;452;p41"/>
          <p:cNvSpPr txBox="1">
            <a:spLocks noGrp="1"/>
          </p:cNvSpPr>
          <p:nvPr>
            <p:ph type="subTitle" idx="4294967295"/>
          </p:nvPr>
        </p:nvSpPr>
        <p:spPr>
          <a:xfrm>
            <a:off x="2215631" y="2972465"/>
            <a:ext cx="3633000" cy="9542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Currently pursuing a degree in Informatics Engineering at Universitas </a:t>
            </a:r>
            <a:r>
              <a:rPr lang="en-US" sz="1100" dirty="0" err="1"/>
              <a:t>Indraprasta</a:t>
            </a:r>
            <a:r>
              <a:rPr lang="en-US" sz="1100" dirty="0"/>
              <a:t> PGRI. Has gained hands-on experience in various roles and is currently exploring the fields of AI and machine learning through internships and personal projects.</a:t>
            </a:r>
            <a:endParaRPr sz="1100" dirty="0"/>
          </a:p>
        </p:txBody>
      </p:sp>
      <p:sp>
        <p:nvSpPr>
          <p:cNvPr id="453" name="Google Shape;453;p41"/>
          <p:cNvSpPr txBox="1">
            <a:spLocks noGrp="1"/>
          </p:cNvSpPr>
          <p:nvPr>
            <p:ph type="subTitle" idx="4294967295"/>
          </p:nvPr>
        </p:nvSpPr>
        <p:spPr>
          <a:xfrm>
            <a:off x="715175" y="2245475"/>
            <a:ext cx="1500653" cy="48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latin typeface="Orbitron"/>
                <a:ea typeface="Orbitron"/>
                <a:cs typeface="Orbitron"/>
                <a:sym typeface="Orbitron"/>
              </a:rPr>
              <a:t>Danang H. Fadillah</a:t>
            </a:r>
            <a:endParaRPr sz="1100" dirty="0"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454" name="Google Shape;454;p41"/>
          <p:cNvSpPr txBox="1">
            <a:spLocks noGrp="1"/>
          </p:cNvSpPr>
          <p:nvPr>
            <p:ph type="subTitle" idx="4294967295"/>
          </p:nvPr>
        </p:nvSpPr>
        <p:spPr>
          <a:xfrm>
            <a:off x="714731" y="2679950"/>
            <a:ext cx="1500900" cy="48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/>
              <a:t>AI/ML Engineer Intern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/>
              <a:t>@ Bintang Toedjoe</a:t>
            </a:r>
            <a:endParaRPr sz="900" dirty="0"/>
          </a:p>
        </p:txBody>
      </p:sp>
      <p:sp>
        <p:nvSpPr>
          <p:cNvPr id="455" name="Google Shape;455;p41"/>
          <p:cNvSpPr txBox="1">
            <a:spLocks noGrp="1"/>
          </p:cNvSpPr>
          <p:nvPr>
            <p:ph type="subTitle" idx="4294967295"/>
          </p:nvPr>
        </p:nvSpPr>
        <p:spPr>
          <a:xfrm>
            <a:off x="2215631" y="1438593"/>
            <a:ext cx="3633000" cy="1095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rPr>
              <a:t>“Set to get, not to forget.”</a:t>
            </a:r>
            <a:endParaRPr sz="3200" dirty="0">
              <a:solidFill>
                <a:schemeClr val="lt2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458" name="Google Shape;458;p41"/>
          <p:cNvSpPr txBox="1">
            <a:spLocks noGrp="1"/>
          </p:cNvSpPr>
          <p:nvPr>
            <p:ph type="subTitle" idx="4294967295"/>
          </p:nvPr>
        </p:nvSpPr>
        <p:spPr>
          <a:xfrm>
            <a:off x="6072425" y="1118601"/>
            <a:ext cx="2351400" cy="54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Orbitron"/>
                <a:ea typeface="Orbitron"/>
                <a:cs typeface="Orbitron"/>
                <a:sym typeface="Orbitron"/>
              </a:rPr>
              <a:t>Motivations</a:t>
            </a:r>
            <a:endParaRPr sz="1600" dirty="0"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459" name="Google Shape;459;p41"/>
          <p:cNvSpPr txBox="1">
            <a:spLocks noGrp="1"/>
          </p:cNvSpPr>
          <p:nvPr>
            <p:ph type="subTitle" idx="4294967295"/>
          </p:nvPr>
        </p:nvSpPr>
        <p:spPr>
          <a:xfrm>
            <a:off x="6467919" y="1659875"/>
            <a:ext cx="1956300" cy="4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Staying ahead of trends</a:t>
            </a:r>
            <a:endParaRPr sz="1200" dirty="0"/>
          </a:p>
        </p:txBody>
      </p:sp>
      <p:sp>
        <p:nvSpPr>
          <p:cNvPr id="460" name="Google Shape;460;p41"/>
          <p:cNvSpPr txBox="1">
            <a:spLocks noGrp="1"/>
          </p:cNvSpPr>
          <p:nvPr>
            <p:ph type="subTitle" idx="4294967295"/>
          </p:nvPr>
        </p:nvSpPr>
        <p:spPr>
          <a:xfrm>
            <a:off x="6072425" y="3216475"/>
            <a:ext cx="23514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rbitron"/>
                <a:ea typeface="Orbitron"/>
                <a:cs typeface="Orbitron"/>
                <a:sym typeface="Orbitron"/>
              </a:rPr>
              <a:t>Pain points</a:t>
            </a:r>
            <a:endParaRPr sz="1600"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461" name="Google Shape;461;p41"/>
          <p:cNvSpPr txBox="1">
            <a:spLocks noGrp="1"/>
          </p:cNvSpPr>
          <p:nvPr>
            <p:ph type="subTitle" idx="4294967295"/>
          </p:nvPr>
        </p:nvSpPr>
        <p:spPr>
          <a:xfrm>
            <a:off x="6072425" y="3603825"/>
            <a:ext cx="2351400" cy="10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Has difficulty managing time and staying organized. Often struggles to find the right resources to stay consistently ahead in a fast-changing landscape.</a:t>
            </a:r>
            <a:endParaRPr sz="1100" dirty="0"/>
          </a:p>
        </p:txBody>
      </p:sp>
      <p:sp>
        <p:nvSpPr>
          <p:cNvPr id="462" name="Google Shape;462;p41"/>
          <p:cNvSpPr txBox="1">
            <a:spLocks noGrp="1"/>
          </p:cNvSpPr>
          <p:nvPr>
            <p:ph type="subTitle" idx="4294967295"/>
          </p:nvPr>
        </p:nvSpPr>
        <p:spPr>
          <a:xfrm>
            <a:off x="6467919" y="2184050"/>
            <a:ext cx="1956300" cy="4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Constant learning and development</a:t>
            </a:r>
            <a:endParaRPr sz="1200" dirty="0"/>
          </a:p>
        </p:txBody>
      </p:sp>
      <p:sp>
        <p:nvSpPr>
          <p:cNvPr id="463" name="Google Shape;463;p41"/>
          <p:cNvSpPr txBox="1">
            <a:spLocks noGrp="1"/>
          </p:cNvSpPr>
          <p:nvPr>
            <p:ph type="subTitle" idx="4294967295"/>
          </p:nvPr>
        </p:nvSpPr>
        <p:spPr>
          <a:xfrm>
            <a:off x="6467919" y="2708225"/>
            <a:ext cx="1956300" cy="4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Stay Foolish</a:t>
            </a:r>
            <a:endParaRPr sz="1200" dirty="0"/>
          </a:p>
        </p:txBody>
      </p:sp>
      <p:sp>
        <p:nvSpPr>
          <p:cNvPr id="464" name="Google Shape;464;p41"/>
          <p:cNvSpPr/>
          <p:nvPr/>
        </p:nvSpPr>
        <p:spPr>
          <a:xfrm>
            <a:off x="6072325" y="1706950"/>
            <a:ext cx="3069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rPr>
              <a:t>1</a:t>
            </a:r>
            <a:endParaRPr b="1">
              <a:solidFill>
                <a:schemeClr val="lt2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465" name="Google Shape;465;p41"/>
          <p:cNvSpPr/>
          <p:nvPr/>
        </p:nvSpPr>
        <p:spPr>
          <a:xfrm>
            <a:off x="6072425" y="2232387"/>
            <a:ext cx="3069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rPr>
              <a:t>2</a:t>
            </a:r>
            <a:endParaRPr b="1">
              <a:solidFill>
                <a:schemeClr val="lt2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466" name="Google Shape;466;p41"/>
          <p:cNvSpPr/>
          <p:nvPr/>
        </p:nvSpPr>
        <p:spPr>
          <a:xfrm>
            <a:off x="6072384" y="2757663"/>
            <a:ext cx="3069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rPr>
              <a:t>3</a:t>
            </a:r>
            <a:endParaRPr b="1">
              <a:solidFill>
                <a:schemeClr val="lt2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grpSp>
        <p:nvGrpSpPr>
          <p:cNvPr id="467" name="Google Shape;467;p41"/>
          <p:cNvGrpSpPr/>
          <p:nvPr/>
        </p:nvGrpSpPr>
        <p:grpSpPr>
          <a:xfrm>
            <a:off x="720000" y="3258975"/>
            <a:ext cx="226500" cy="378950"/>
            <a:chOff x="7894100" y="3762250"/>
            <a:chExt cx="226500" cy="378950"/>
          </a:xfrm>
        </p:grpSpPr>
        <p:sp>
          <p:nvSpPr>
            <p:cNvPr id="468" name="Google Shape;468;p41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69" name="Google Shape;469;p41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70" name="Google Shape;470;p41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471" name="Google Shape;471;p41"/>
          <p:cNvGrpSpPr/>
          <p:nvPr/>
        </p:nvGrpSpPr>
        <p:grpSpPr>
          <a:xfrm>
            <a:off x="8349725" y="1071275"/>
            <a:ext cx="74100" cy="1788450"/>
            <a:chOff x="8657175" y="772575"/>
            <a:chExt cx="74100" cy="1788450"/>
          </a:xfrm>
        </p:grpSpPr>
        <p:sp>
          <p:nvSpPr>
            <p:cNvPr id="472" name="Google Shape;472;p41"/>
            <p:cNvSpPr/>
            <p:nvPr/>
          </p:nvSpPr>
          <p:spPr>
            <a:xfrm>
              <a:off x="8657175" y="77257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73" name="Google Shape;473;p41"/>
            <p:cNvSpPr/>
            <p:nvPr/>
          </p:nvSpPr>
          <p:spPr>
            <a:xfrm>
              <a:off x="8657175" y="2304150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74" name="Google Shape;474;p41"/>
            <p:cNvSpPr/>
            <p:nvPr/>
          </p:nvSpPr>
          <p:spPr>
            <a:xfrm>
              <a:off x="8657175" y="248392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2391900" y="2409526"/>
            <a:ext cx="43602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Latar Belakang</a:t>
            </a:r>
            <a:endParaRPr sz="3200" dirty="0"/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4027150" y="1352695"/>
            <a:ext cx="10899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243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prism isInverted="1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54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Latar Belakang</a:t>
            </a:r>
            <a:endParaRPr dirty="0"/>
          </a:p>
        </p:txBody>
      </p:sp>
      <p:sp>
        <p:nvSpPr>
          <p:cNvPr id="257" name="Google Shape;257;p30"/>
          <p:cNvSpPr txBox="1">
            <a:spLocks noGrp="1"/>
          </p:cNvSpPr>
          <p:nvPr>
            <p:ph type="body" idx="1"/>
          </p:nvPr>
        </p:nvSpPr>
        <p:spPr>
          <a:xfrm>
            <a:off x="720000" y="1230583"/>
            <a:ext cx="4549500" cy="18539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spcBef>
                <a:spcPts val="1000"/>
              </a:spcBef>
            </a:pPr>
            <a:r>
              <a:rPr lang="en-ID" dirty="0" err="1"/>
              <a:t>Perkembangan</a:t>
            </a:r>
            <a:r>
              <a:rPr lang="en-ID" dirty="0"/>
              <a:t> </a:t>
            </a:r>
            <a:r>
              <a:rPr lang="en-ID" b="1" i="1" dirty="0"/>
              <a:t>Natural Language Processing </a:t>
            </a:r>
            <a:r>
              <a:rPr lang="en-ID" b="1" dirty="0"/>
              <a:t>(NLP)</a:t>
            </a:r>
            <a:r>
              <a:rPr lang="en-ID" dirty="0"/>
              <a:t> </a:t>
            </a:r>
            <a:r>
              <a:rPr lang="en-ID" dirty="0" err="1"/>
              <a:t>mengubah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interaksi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di platform digital.</a:t>
            </a:r>
          </a:p>
          <a:p>
            <a:pPr marL="171450" indent="-171450">
              <a:spcBef>
                <a:spcPts val="1000"/>
              </a:spcBef>
            </a:pPr>
            <a:r>
              <a:rPr lang="en-ID" dirty="0"/>
              <a:t>Gramedia </a:t>
            </a:r>
            <a:r>
              <a:rPr lang="en-ID" dirty="0" err="1"/>
              <a:t>sebagai</a:t>
            </a:r>
            <a:r>
              <a:rPr lang="en-ID" dirty="0"/>
              <a:t> toko </a:t>
            </a:r>
            <a:r>
              <a:rPr lang="en-ID" dirty="0" err="1"/>
              <a:t>buku</a:t>
            </a:r>
            <a:r>
              <a:rPr lang="en-ID" dirty="0"/>
              <a:t> daring </a:t>
            </a:r>
            <a:r>
              <a:rPr lang="en-ID" dirty="0" err="1"/>
              <a:t>masih</a:t>
            </a:r>
            <a:r>
              <a:rPr lang="en-ID" dirty="0"/>
              <a:t> </a:t>
            </a:r>
            <a:r>
              <a:rPr lang="en-ID" dirty="0" err="1"/>
              <a:t>mengandalkan</a:t>
            </a:r>
            <a:r>
              <a:rPr lang="en-ID" dirty="0"/>
              <a:t> </a:t>
            </a:r>
            <a:r>
              <a:rPr lang="en-ID" dirty="0" err="1"/>
              <a:t>pencarian</a:t>
            </a:r>
            <a:r>
              <a:rPr lang="en-ID" dirty="0"/>
              <a:t> </a:t>
            </a:r>
            <a:r>
              <a:rPr lang="en-ID" dirty="0" err="1"/>
              <a:t>berbasis</a:t>
            </a:r>
            <a:r>
              <a:rPr lang="en-ID" dirty="0"/>
              <a:t> kata </a:t>
            </a:r>
            <a:r>
              <a:rPr lang="en-ID" dirty="0" err="1"/>
              <a:t>kunci</a:t>
            </a:r>
            <a:r>
              <a:rPr lang="en-ID" dirty="0"/>
              <a:t>, yang </a:t>
            </a:r>
            <a:r>
              <a:rPr lang="en-ID" dirty="0" err="1"/>
              <a:t>mengabaikan</a:t>
            </a:r>
            <a:r>
              <a:rPr lang="en-ID" dirty="0"/>
              <a:t> </a:t>
            </a:r>
            <a:r>
              <a:rPr lang="en-ID" b="1" dirty="0" err="1"/>
              <a:t>makna</a:t>
            </a:r>
            <a:r>
              <a:rPr lang="en-ID" b="1" dirty="0"/>
              <a:t> </a:t>
            </a:r>
            <a:r>
              <a:rPr lang="en-ID" b="1" dirty="0" err="1"/>
              <a:t>semantik</a:t>
            </a:r>
            <a:r>
              <a:rPr lang="en-ID" dirty="0"/>
              <a:t>.</a:t>
            </a:r>
            <a:endParaRPr lang="en-US" dirty="0"/>
          </a:p>
          <a:p>
            <a:pPr marL="171450" indent="-171450">
              <a:spcBef>
                <a:spcPts val="1000"/>
              </a:spcBef>
            </a:pPr>
            <a:r>
              <a:rPr lang="en-ID" b="1" i="1" dirty="0"/>
              <a:t>Information overload</a:t>
            </a:r>
            <a:r>
              <a:rPr lang="en-ID" i="1" dirty="0"/>
              <a:t> </a:t>
            </a:r>
            <a:r>
              <a:rPr lang="en-ID" dirty="0" err="1"/>
              <a:t>jadi</a:t>
            </a:r>
            <a:r>
              <a:rPr lang="en-ID" dirty="0"/>
              <a:t> </a:t>
            </a:r>
            <a:r>
              <a:rPr lang="en-ID" dirty="0" err="1"/>
              <a:t>tantangan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pencarian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relevan</a:t>
            </a:r>
            <a:r>
              <a:rPr lang="en-ID" dirty="0"/>
              <a:t>.</a:t>
            </a:r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CDA5D3-6419-43CF-9836-F2B74D753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365" y="3047248"/>
            <a:ext cx="3206683" cy="1458366"/>
          </a:xfrm>
          <a:prstGeom prst="rect">
            <a:avLst/>
          </a:prstGeom>
        </p:spPr>
      </p:pic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10F9E8BF-C9FF-41B9-BC5B-0AFF808D72A1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4"/>
          <a:srcRect l="26096" r="26096"/>
          <a:stretch>
            <a:fillRect/>
          </a:stretch>
        </p:blipFill>
        <p:spPr/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Latar Belakang</a:t>
            </a:r>
            <a:endParaRPr dirty="0"/>
          </a:p>
        </p:txBody>
      </p:sp>
      <p:sp>
        <p:nvSpPr>
          <p:cNvPr id="269" name="Google Shape;269;p31"/>
          <p:cNvSpPr txBox="1">
            <a:spLocks noGrp="1"/>
          </p:cNvSpPr>
          <p:nvPr>
            <p:ph type="subTitle" idx="1"/>
          </p:nvPr>
        </p:nvSpPr>
        <p:spPr>
          <a:xfrm>
            <a:off x="1013450" y="1817100"/>
            <a:ext cx="3288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embedding dan cosine similarity</a:t>
            </a:r>
          </a:p>
        </p:txBody>
      </p:sp>
      <p:sp>
        <p:nvSpPr>
          <p:cNvPr id="270" name="Google Shape;270;p31"/>
          <p:cNvSpPr txBox="1">
            <a:spLocks noGrp="1"/>
          </p:cNvSpPr>
          <p:nvPr>
            <p:ph type="subTitle" idx="2"/>
          </p:nvPr>
        </p:nvSpPr>
        <p:spPr>
          <a:xfrm>
            <a:off x="4683250" y="1658604"/>
            <a:ext cx="34473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Content-Based Filtering</a:t>
            </a:r>
            <a:endParaRPr dirty="0"/>
          </a:p>
        </p:txBody>
      </p:sp>
      <p:sp>
        <p:nvSpPr>
          <p:cNvPr id="271" name="Google Shape;271;p31"/>
          <p:cNvSpPr txBox="1">
            <a:spLocks noGrp="1"/>
          </p:cNvSpPr>
          <p:nvPr>
            <p:ph type="subTitle" idx="4"/>
          </p:nvPr>
        </p:nvSpPr>
        <p:spPr>
          <a:xfrm>
            <a:off x="1013450" y="2571750"/>
            <a:ext cx="3447300" cy="12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 dirty="0" err="1"/>
              <a:t>Pendekatan</a:t>
            </a:r>
            <a:r>
              <a:rPr lang="en-ID" sz="1000" dirty="0"/>
              <a:t> </a:t>
            </a:r>
            <a:r>
              <a:rPr lang="en-ID" sz="1000" b="1" dirty="0"/>
              <a:t>embedding</a:t>
            </a:r>
            <a:r>
              <a:rPr lang="en-ID" sz="1000" dirty="0"/>
              <a:t> </a:t>
            </a:r>
            <a:r>
              <a:rPr lang="en-ID" sz="1000" dirty="0" err="1"/>
              <a:t>merepresentasikan</a:t>
            </a:r>
            <a:r>
              <a:rPr lang="en-ID" sz="1000" dirty="0"/>
              <a:t> </a:t>
            </a:r>
            <a:r>
              <a:rPr lang="en-ID" sz="1000" dirty="0" err="1"/>
              <a:t>teks</a:t>
            </a:r>
            <a:r>
              <a:rPr lang="en-ID" sz="1000" dirty="0"/>
              <a:t> </a:t>
            </a:r>
            <a:r>
              <a:rPr lang="en-ID" sz="1000" dirty="0" err="1"/>
              <a:t>sebagai</a:t>
            </a:r>
            <a:r>
              <a:rPr lang="en-ID" sz="1000" dirty="0"/>
              <a:t> </a:t>
            </a:r>
            <a:r>
              <a:rPr lang="en-ID" sz="1000" dirty="0" err="1"/>
              <a:t>vektor</a:t>
            </a:r>
            <a:r>
              <a:rPr lang="en-ID" sz="1000" dirty="0"/>
              <a:t> yang </a:t>
            </a:r>
            <a:r>
              <a:rPr lang="en-ID" sz="1000" dirty="0" err="1"/>
              <a:t>mencerminkan</a:t>
            </a:r>
            <a:r>
              <a:rPr lang="en-ID" sz="1000" dirty="0"/>
              <a:t> </a:t>
            </a:r>
            <a:r>
              <a:rPr lang="en-ID" sz="1000" dirty="0" err="1"/>
              <a:t>makna</a:t>
            </a:r>
            <a:r>
              <a:rPr lang="en-ID" sz="1000" dirty="0"/>
              <a:t>. </a:t>
            </a:r>
            <a:r>
              <a:rPr lang="en-ID" sz="1000" dirty="0" err="1"/>
              <a:t>Dengan</a:t>
            </a:r>
            <a:r>
              <a:rPr lang="en-ID" sz="1000" dirty="0"/>
              <a:t> </a:t>
            </a:r>
            <a:r>
              <a:rPr lang="en-ID" sz="1000" b="1" dirty="0"/>
              <a:t>cosine similarity</a:t>
            </a:r>
            <a:r>
              <a:rPr lang="en-ID" sz="1000" dirty="0"/>
              <a:t>, </a:t>
            </a:r>
            <a:r>
              <a:rPr lang="en-ID" sz="1000" dirty="0" err="1"/>
              <a:t>sistem</a:t>
            </a:r>
            <a:r>
              <a:rPr lang="en-ID" sz="1000" dirty="0"/>
              <a:t> </a:t>
            </a:r>
            <a:r>
              <a:rPr lang="en-ID" sz="1000" dirty="0" err="1"/>
              <a:t>mengukur</a:t>
            </a:r>
            <a:r>
              <a:rPr lang="en-ID" sz="1000" dirty="0"/>
              <a:t> </a:t>
            </a:r>
            <a:r>
              <a:rPr lang="en-ID" sz="1000" dirty="0" err="1"/>
              <a:t>kemiripan</a:t>
            </a:r>
            <a:r>
              <a:rPr lang="en-ID" sz="1000" dirty="0"/>
              <a:t> </a:t>
            </a:r>
            <a:r>
              <a:rPr lang="en-ID" sz="1000" dirty="0" err="1"/>
              <a:t>antar</a:t>
            </a:r>
            <a:r>
              <a:rPr lang="en-ID" sz="1000" dirty="0"/>
              <a:t> </a:t>
            </a:r>
            <a:r>
              <a:rPr lang="en-ID" sz="1000" dirty="0" err="1"/>
              <a:t>buku</a:t>
            </a:r>
            <a:r>
              <a:rPr lang="en-ID" sz="1000" dirty="0"/>
              <a:t> </a:t>
            </a:r>
            <a:r>
              <a:rPr lang="en-ID" sz="1000" dirty="0" err="1"/>
              <a:t>berdasarkan</a:t>
            </a:r>
            <a:r>
              <a:rPr lang="en-ID" sz="1000" dirty="0"/>
              <a:t> </a:t>
            </a:r>
            <a:r>
              <a:rPr lang="en-ID" sz="1000" dirty="0" err="1"/>
              <a:t>sudut</a:t>
            </a:r>
            <a:r>
              <a:rPr lang="en-ID" sz="1000" dirty="0"/>
              <a:t> </a:t>
            </a:r>
            <a:r>
              <a:rPr lang="en-ID" sz="1000" dirty="0" err="1"/>
              <a:t>antar</a:t>
            </a:r>
            <a:r>
              <a:rPr lang="en-ID" sz="1000" dirty="0"/>
              <a:t> </a:t>
            </a:r>
            <a:r>
              <a:rPr lang="en-ID" sz="1000" dirty="0" err="1"/>
              <a:t>vektor</a:t>
            </a:r>
            <a:r>
              <a:rPr lang="en-ID" sz="1000" dirty="0"/>
              <a:t>, </a:t>
            </a:r>
            <a:r>
              <a:rPr lang="en-ID" sz="1000" dirty="0" err="1"/>
              <a:t>sehingga</a:t>
            </a:r>
            <a:r>
              <a:rPr lang="en-ID" sz="1000" dirty="0"/>
              <a:t> </a:t>
            </a:r>
            <a:r>
              <a:rPr lang="en-ID" sz="1000" dirty="0" err="1"/>
              <a:t>dapat</a:t>
            </a:r>
            <a:r>
              <a:rPr lang="en-ID" sz="1000" dirty="0"/>
              <a:t> </a:t>
            </a:r>
            <a:r>
              <a:rPr lang="en-ID" sz="1000" dirty="0" err="1"/>
              <a:t>merekomendasikan</a:t>
            </a:r>
            <a:r>
              <a:rPr lang="en-ID" sz="1000" dirty="0"/>
              <a:t> </a:t>
            </a:r>
            <a:r>
              <a:rPr lang="en-ID" sz="1000" dirty="0" err="1"/>
              <a:t>buku</a:t>
            </a:r>
            <a:r>
              <a:rPr lang="en-ID" sz="1000" dirty="0"/>
              <a:t> yang </a:t>
            </a:r>
            <a:r>
              <a:rPr lang="en-ID" sz="1000" dirty="0" err="1"/>
              <a:t>maknanya</a:t>
            </a:r>
            <a:r>
              <a:rPr lang="en-ID" sz="1000" dirty="0"/>
              <a:t> </a:t>
            </a:r>
            <a:r>
              <a:rPr lang="en-ID" sz="1000" dirty="0" err="1"/>
              <a:t>serupa</a:t>
            </a:r>
            <a:r>
              <a:rPr lang="en-ID" sz="1000" dirty="0"/>
              <a:t>, </a:t>
            </a:r>
            <a:r>
              <a:rPr lang="en-ID" sz="1000" dirty="0" err="1"/>
              <a:t>meski</a:t>
            </a:r>
            <a:r>
              <a:rPr lang="en-ID" sz="1000" dirty="0"/>
              <a:t> </a:t>
            </a:r>
            <a:r>
              <a:rPr lang="en-ID" sz="1000" dirty="0" err="1"/>
              <a:t>tanpa</a:t>
            </a:r>
            <a:r>
              <a:rPr lang="en-ID" sz="1000" dirty="0"/>
              <a:t> kata yang </a:t>
            </a:r>
            <a:r>
              <a:rPr lang="en-ID" sz="1000" dirty="0" err="1"/>
              <a:t>sama</a:t>
            </a:r>
            <a:r>
              <a:rPr lang="en-ID" sz="1000" dirty="0"/>
              <a:t>.</a:t>
            </a:r>
            <a:endParaRPr sz="1000" dirty="0"/>
          </a:p>
        </p:txBody>
      </p:sp>
      <p:grpSp>
        <p:nvGrpSpPr>
          <p:cNvPr id="272" name="Google Shape;272;p31"/>
          <p:cNvGrpSpPr/>
          <p:nvPr/>
        </p:nvGrpSpPr>
        <p:grpSpPr>
          <a:xfrm rot="5400000">
            <a:off x="1577175" y="654550"/>
            <a:ext cx="74100" cy="1788450"/>
            <a:chOff x="8657175" y="772575"/>
            <a:chExt cx="74100" cy="1788450"/>
          </a:xfrm>
        </p:grpSpPr>
        <p:sp>
          <p:nvSpPr>
            <p:cNvPr id="273" name="Google Shape;273;p31"/>
            <p:cNvSpPr/>
            <p:nvPr/>
          </p:nvSpPr>
          <p:spPr>
            <a:xfrm>
              <a:off x="8657175" y="77257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8657175" y="2304150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8657175" y="248392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sp>
        <p:nvSpPr>
          <p:cNvPr id="13" name="Google Shape;271;p31">
            <a:extLst>
              <a:ext uri="{FF2B5EF4-FFF2-40B4-BE49-F238E27FC236}">
                <a16:creationId xmlns:a16="http://schemas.microsoft.com/office/drawing/2014/main" id="{85943EB3-0F0F-4316-88CB-CD18BE3F4140}"/>
              </a:ext>
            </a:extLst>
          </p:cNvPr>
          <p:cNvSpPr txBox="1">
            <a:spLocks/>
          </p:cNvSpPr>
          <p:nvPr/>
        </p:nvSpPr>
        <p:spPr>
          <a:xfrm>
            <a:off x="4640570" y="2571750"/>
            <a:ext cx="3447300" cy="12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marL="0" indent="0"/>
            <a:r>
              <a:rPr lang="en-ID" sz="1000" b="1" dirty="0"/>
              <a:t>Content-Based Filtering</a:t>
            </a:r>
            <a:r>
              <a:rPr lang="en-ID" sz="1000" dirty="0"/>
              <a:t> </a:t>
            </a:r>
            <a:r>
              <a:rPr lang="en-ID" sz="1000" dirty="0" err="1"/>
              <a:t>dengan</a:t>
            </a:r>
            <a:r>
              <a:rPr lang="en-ID" sz="1000" dirty="0"/>
              <a:t> embedding </a:t>
            </a:r>
            <a:r>
              <a:rPr lang="en-ID" sz="1000" dirty="0" err="1"/>
              <a:t>memungkinkan</a:t>
            </a:r>
            <a:r>
              <a:rPr lang="en-ID" sz="1000" dirty="0"/>
              <a:t> </a:t>
            </a:r>
            <a:r>
              <a:rPr lang="en-ID" sz="1000" dirty="0" err="1"/>
              <a:t>sistem</a:t>
            </a:r>
            <a:r>
              <a:rPr lang="en-ID" sz="1000" dirty="0"/>
              <a:t> </a:t>
            </a:r>
            <a:r>
              <a:rPr lang="en-ID" sz="1000" dirty="0" err="1"/>
              <a:t>memahami</a:t>
            </a:r>
            <a:r>
              <a:rPr lang="en-ID" sz="1000" dirty="0"/>
              <a:t> </a:t>
            </a:r>
            <a:r>
              <a:rPr lang="en-ID" sz="1000" b="1" dirty="0" err="1"/>
              <a:t>konteks</a:t>
            </a:r>
            <a:r>
              <a:rPr lang="en-ID" sz="1000" b="1" dirty="0"/>
              <a:t> </a:t>
            </a:r>
            <a:r>
              <a:rPr lang="en-ID" sz="1000" b="1" dirty="0" err="1"/>
              <a:t>isi</a:t>
            </a:r>
            <a:r>
              <a:rPr lang="en-ID" sz="1000" b="1" dirty="0"/>
              <a:t> </a:t>
            </a:r>
            <a:r>
              <a:rPr lang="en-ID" sz="1000" b="1" dirty="0" err="1"/>
              <a:t>buku</a:t>
            </a:r>
            <a:r>
              <a:rPr lang="en-ID" sz="1000" dirty="0"/>
              <a:t>, </a:t>
            </a:r>
            <a:r>
              <a:rPr lang="en-ID" sz="1000" dirty="0" err="1"/>
              <a:t>bukan</a:t>
            </a:r>
            <a:r>
              <a:rPr lang="en-ID" sz="1000" dirty="0"/>
              <a:t> </a:t>
            </a:r>
            <a:r>
              <a:rPr lang="en-ID" sz="1000" dirty="0" err="1"/>
              <a:t>hanya</a:t>
            </a:r>
            <a:r>
              <a:rPr lang="en-ID" sz="1000" dirty="0"/>
              <a:t> </a:t>
            </a:r>
            <a:r>
              <a:rPr lang="en-ID" sz="1000" dirty="0" err="1"/>
              <a:t>mencocokkan</a:t>
            </a:r>
            <a:r>
              <a:rPr lang="en-ID" sz="1000" dirty="0"/>
              <a:t> kata. </a:t>
            </a:r>
            <a:r>
              <a:rPr lang="en-ID" sz="1000" dirty="0" err="1"/>
              <a:t>Ini</a:t>
            </a:r>
            <a:r>
              <a:rPr lang="en-ID" sz="1000" dirty="0"/>
              <a:t> </a:t>
            </a:r>
            <a:r>
              <a:rPr lang="en-ID" sz="1000" dirty="0" err="1"/>
              <a:t>membuat</a:t>
            </a:r>
            <a:r>
              <a:rPr lang="en-ID" sz="1000" dirty="0"/>
              <a:t> </a:t>
            </a:r>
            <a:r>
              <a:rPr lang="en-ID" sz="1000" dirty="0" err="1"/>
              <a:t>rekomendasi</a:t>
            </a:r>
            <a:r>
              <a:rPr lang="en-ID" sz="1000" dirty="0"/>
              <a:t> </a:t>
            </a:r>
            <a:r>
              <a:rPr lang="en-ID" sz="1000" dirty="0" err="1"/>
              <a:t>lebih</a:t>
            </a:r>
            <a:r>
              <a:rPr lang="en-ID" sz="1000" dirty="0"/>
              <a:t> </a:t>
            </a:r>
            <a:r>
              <a:rPr lang="en-ID" sz="1000" b="1" dirty="0" err="1"/>
              <a:t>akurat</a:t>
            </a:r>
            <a:r>
              <a:rPr lang="en-ID" sz="1000" b="1" dirty="0"/>
              <a:t> dan </a:t>
            </a:r>
            <a:r>
              <a:rPr lang="en-ID" sz="1000" b="1" dirty="0" err="1"/>
              <a:t>relevan</a:t>
            </a:r>
            <a:r>
              <a:rPr lang="en-ID" sz="1000" dirty="0"/>
              <a:t>, </a:t>
            </a:r>
            <a:r>
              <a:rPr lang="en-ID" sz="1000" dirty="0" err="1"/>
              <a:t>meskipun</a:t>
            </a:r>
            <a:r>
              <a:rPr lang="en-ID" sz="1000" dirty="0"/>
              <a:t> kata-</a:t>
            </a:r>
            <a:r>
              <a:rPr lang="en-ID" sz="1000" dirty="0" err="1"/>
              <a:t>katanya</a:t>
            </a:r>
            <a:r>
              <a:rPr lang="en-ID" sz="1000" dirty="0"/>
              <a:t> </a:t>
            </a:r>
            <a:r>
              <a:rPr lang="en-ID" sz="1000" dirty="0" err="1"/>
              <a:t>berbeda</a:t>
            </a:r>
            <a:r>
              <a:rPr lang="en-ID" sz="1000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" grpId="0" build="p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Latar Belakang</a:t>
            </a:r>
            <a:endParaRPr dirty="0"/>
          </a:p>
        </p:txBody>
      </p:sp>
      <p:grpSp>
        <p:nvGrpSpPr>
          <p:cNvPr id="272" name="Google Shape;272;p31"/>
          <p:cNvGrpSpPr/>
          <p:nvPr/>
        </p:nvGrpSpPr>
        <p:grpSpPr>
          <a:xfrm rot="5400000">
            <a:off x="1577175" y="654550"/>
            <a:ext cx="74100" cy="1788450"/>
            <a:chOff x="8657175" y="772575"/>
            <a:chExt cx="74100" cy="1788450"/>
          </a:xfrm>
        </p:grpSpPr>
        <p:sp>
          <p:nvSpPr>
            <p:cNvPr id="273" name="Google Shape;273;p31"/>
            <p:cNvSpPr/>
            <p:nvPr/>
          </p:nvSpPr>
          <p:spPr>
            <a:xfrm>
              <a:off x="8657175" y="77257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8657175" y="2304150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8657175" y="248392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13FB7B3-95F4-4F53-8C0A-8B1513FF5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550" y="1844935"/>
            <a:ext cx="3457431" cy="19075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00469C1-479C-4952-8785-809B2FF05F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6587" y="2044895"/>
            <a:ext cx="3664558" cy="1507628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2D9EF1D-1EFF-46D8-AB85-FE073C8AF5D8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 flipV="1">
            <a:off x="4215981" y="2798709"/>
            <a:ext cx="56060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4602D6B-B0D2-4558-87FA-3067EA0061DA}"/>
              </a:ext>
            </a:extLst>
          </p:cNvPr>
          <p:cNvSpPr txBox="1"/>
          <p:nvPr/>
        </p:nvSpPr>
        <p:spPr>
          <a:xfrm>
            <a:off x="5141258" y="3567818"/>
            <a:ext cx="312420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600" dirty="0">
                <a:solidFill>
                  <a:schemeClr val="tx1"/>
                </a:solidFill>
              </a:rPr>
              <a:t>https://medium.com/geekculture/cosine-similarity-and-cosine-distance-48eed889a5c4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B54739-8458-4F7C-A2D4-778D2D519D36}"/>
              </a:ext>
            </a:extLst>
          </p:cNvPr>
          <p:cNvSpPr txBox="1"/>
          <p:nvPr/>
        </p:nvSpPr>
        <p:spPr>
          <a:xfrm>
            <a:off x="1440635" y="3752484"/>
            <a:ext cx="209325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600" dirty="0">
                <a:solidFill>
                  <a:schemeClr val="tx1"/>
                </a:solidFill>
              </a:rPr>
              <a:t>https://www.superannotate.com/blog/embeddings-in-ml</a:t>
            </a:r>
          </a:p>
        </p:txBody>
      </p:sp>
    </p:spTree>
    <p:extLst>
      <p:ext uri="{BB962C8B-B14F-4D97-AF65-F5344CB8AC3E}">
        <p14:creationId xmlns:p14="http://schemas.microsoft.com/office/powerpoint/2010/main" val="3793059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2391900" y="2409526"/>
            <a:ext cx="43602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3200" dirty="0" err="1"/>
              <a:t>Identifikasi</a:t>
            </a:r>
            <a:r>
              <a:rPr lang="en-ID" sz="3200" dirty="0"/>
              <a:t> </a:t>
            </a:r>
            <a:r>
              <a:rPr lang="en-ID" sz="3200" dirty="0" err="1"/>
              <a:t>Masalah</a:t>
            </a:r>
            <a:endParaRPr lang="en-ID" sz="3200" dirty="0"/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4027149" y="1352695"/>
            <a:ext cx="1244097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243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2792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54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800" dirty="0" err="1"/>
              <a:t>Identifikasi</a:t>
            </a:r>
            <a:r>
              <a:rPr lang="en-ID" sz="2800" dirty="0"/>
              <a:t> </a:t>
            </a:r>
            <a:r>
              <a:rPr lang="en-ID" sz="2800" dirty="0" err="1"/>
              <a:t>Masalah</a:t>
            </a:r>
            <a:endParaRPr dirty="0"/>
          </a:p>
        </p:txBody>
      </p:sp>
      <p:sp>
        <p:nvSpPr>
          <p:cNvPr id="257" name="Google Shape;257;p30"/>
          <p:cNvSpPr txBox="1">
            <a:spLocks noGrp="1"/>
          </p:cNvSpPr>
          <p:nvPr>
            <p:ph type="body" idx="1"/>
          </p:nvPr>
        </p:nvSpPr>
        <p:spPr>
          <a:xfrm>
            <a:off x="720000" y="1230583"/>
            <a:ext cx="4549500" cy="18539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spcBef>
                <a:spcPts val="1000"/>
              </a:spcBef>
            </a:pP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berlebih</a:t>
            </a:r>
            <a:r>
              <a:rPr lang="en-ID" dirty="0"/>
              <a:t> </a:t>
            </a:r>
            <a:r>
              <a:rPr lang="en-ID" dirty="0" err="1"/>
              <a:t>menyulitkan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.</a:t>
            </a:r>
          </a:p>
          <a:p>
            <a:pPr marL="171450" indent="-171450">
              <a:spcBef>
                <a:spcPts val="1000"/>
              </a:spcBef>
            </a:pPr>
            <a:r>
              <a:rPr lang="en-ID" dirty="0" err="1"/>
              <a:t>Pengalaman</a:t>
            </a:r>
            <a:r>
              <a:rPr lang="en-ID" dirty="0"/>
              <a:t> </a:t>
            </a:r>
            <a:r>
              <a:rPr lang="en-ID" dirty="0" err="1"/>
              <a:t>fisik</a:t>
            </a:r>
            <a:r>
              <a:rPr lang="en-ID" dirty="0"/>
              <a:t> dan daring </a:t>
            </a:r>
            <a:r>
              <a:rPr lang="en-ID" dirty="0" err="1"/>
              <a:t>berbeda</a:t>
            </a:r>
            <a:r>
              <a:rPr lang="en-ID" dirty="0"/>
              <a:t> </a:t>
            </a:r>
            <a:r>
              <a:rPr lang="en-ID" dirty="0" err="1"/>
              <a:t>jauh</a:t>
            </a:r>
            <a:r>
              <a:rPr lang="en-ID" dirty="0"/>
              <a:t>.</a:t>
            </a:r>
          </a:p>
          <a:p>
            <a:pPr marL="171450" indent="-171450">
              <a:spcBef>
                <a:spcPts val="1000"/>
              </a:spcBef>
            </a:pPr>
            <a:r>
              <a:rPr lang="nn-NO" dirty="0"/>
              <a:t>Data tidak seragam mengganggu proses rekomendasi.</a:t>
            </a:r>
            <a:endParaRPr lang="en-ID" dirty="0"/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AEE80A5A-5C8D-4431-8885-12AE72CF7124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5091" r="250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6293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" fill="hold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" fill="hold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" fill="hold"/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" fill="hold"/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2391900" y="2409526"/>
            <a:ext cx="43602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3200" dirty="0"/>
              <a:t>Batasan </a:t>
            </a:r>
            <a:r>
              <a:rPr lang="en-ID" sz="3200" dirty="0" err="1"/>
              <a:t>Masalah</a:t>
            </a:r>
            <a:endParaRPr lang="en-ID" sz="3200" dirty="0"/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4027149" y="1352695"/>
            <a:ext cx="1244097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243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8151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54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800" dirty="0"/>
              <a:t>Batasan </a:t>
            </a:r>
            <a:r>
              <a:rPr lang="en-ID" sz="2800" dirty="0" err="1"/>
              <a:t>Masalah</a:t>
            </a:r>
            <a:endParaRPr dirty="0"/>
          </a:p>
        </p:txBody>
      </p:sp>
      <p:sp>
        <p:nvSpPr>
          <p:cNvPr id="257" name="Google Shape;257;p30"/>
          <p:cNvSpPr txBox="1">
            <a:spLocks noGrp="1"/>
          </p:cNvSpPr>
          <p:nvPr>
            <p:ph type="body" idx="1"/>
          </p:nvPr>
        </p:nvSpPr>
        <p:spPr>
          <a:xfrm>
            <a:off x="720000" y="1230583"/>
            <a:ext cx="4549500" cy="18539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spcBef>
                <a:spcPts val="1000"/>
              </a:spcBef>
            </a:pPr>
            <a:r>
              <a:rPr lang="en-US" dirty="0"/>
              <a:t>Data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2 </a:t>
            </a:r>
            <a:r>
              <a:rPr lang="en-US" dirty="0" err="1"/>
              <a:t>ribuan</a:t>
            </a:r>
            <a:r>
              <a:rPr lang="en-US" dirty="0"/>
              <a:t> </a:t>
            </a:r>
            <a:r>
              <a:rPr lang="en-US" dirty="0" err="1"/>
              <a:t>buku</a:t>
            </a:r>
            <a:endParaRPr lang="en-US" dirty="0"/>
          </a:p>
          <a:p>
            <a:pPr marL="171450" indent="-171450">
              <a:spcBef>
                <a:spcPts val="1000"/>
              </a:spcBef>
            </a:pP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berupa</a:t>
            </a:r>
            <a:r>
              <a:rPr lang="en-ID" dirty="0"/>
              <a:t> </a:t>
            </a:r>
            <a:r>
              <a:rPr lang="en-ID" dirty="0" err="1"/>
              <a:t>prototipe</a:t>
            </a:r>
            <a:r>
              <a:rPr lang="en-ID" dirty="0"/>
              <a:t> web </a:t>
            </a:r>
            <a:r>
              <a:rPr lang="en-ID" dirty="0" err="1"/>
              <a:t>sederhana</a:t>
            </a:r>
            <a:r>
              <a:rPr lang="en-ID" dirty="0"/>
              <a:t>.</a:t>
            </a:r>
          </a:p>
          <a:p>
            <a:pPr marL="171450" indent="-171450">
              <a:spcBef>
                <a:spcPts val="1000"/>
              </a:spcBef>
            </a:pP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melibatkan</a:t>
            </a:r>
            <a:r>
              <a:rPr lang="en-ID" dirty="0"/>
              <a:t> </a:t>
            </a:r>
            <a:r>
              <a:rPr lang="en-ID" dirty="0" err="1"/>
              <a:t>preferensi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.</a:t>
            </a:r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204FE471-9331-429D-BCC1-B6F8D2680A69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6096" r="2609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049331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" fill="hold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" fill="hold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" fill="hold"/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" fill="hold"/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" fill="hold"/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" fill="hold"/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2391900" y="2409526"/>
            <a:ext cx="43602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3200" dirty="0" err="1"/>
              <a:t>Rumusan</a:t>
            </a:r>
            <a:r>
              <a:rPr lang="en-ID" sz="3200" dirty="0"/>
              <a:t> </a:t>
            </a:r>
            <a:r>
              <a:rPr lang="en-ID" sz="3200" dirty="0" err="1"/>
              <a:t>Masalah</a:t>
            </a:r>
            <a:endParaRPr lang="en-ID" sz="3200" dirty="0"/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4027149" y="1352695"/>
            <a:ext cx="1244097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243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3006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54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800" dirty="0" err="1"/>
              <a:t>Rumusan</a:t>
            </a:r>
            <a:r>
              <a:rPr lang="en-ID" sz="2800" dirty="0"/>
              <a:t> </a:t>
            </a:r>
            <a:r>
              <a:rPr lang="en-ID" sz="2800" dirty="0" err="1"/>
              <a:t>Masalah</a:t>
            </a:r>
            <a:endParaRPr dirty="0"/>
          </a:p>
        </p:txBody>
      </p:sp>
      <p:sp>
        <p:nvSpPr>
          <p:cNvPr id="257" name="Google Shape;257;p30"/>
          <p:cNvSpPr txBox="1">
            <a:spLocks noGrp="1"/>
          </p:cNvSpPr>
          <p:nvPr>
            <p:ph type="body" idx="1"/>
          </p:nvPr>
        </p:nvSpPr>
        <p:spPr>
          <a:xfrm>
            <a:off x="720000" y="1230583"/>
            <a:ext cx="4549500" cy="18539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spcBef>
                <a:spcPts val="1000"/>
              </a:spcBef>
            </a:pPr>
            <a:r>
              <a:rPr lang="it-IT" dirty="0"/>
              <a:t>Bagaimana mengatasi kelebihan informasi di toko online Gramedia?</a:t>
            </a:r>
          </a:p>
          <a:p>
            <a:pPr marL="171450" indent="-171450">
              <a:spcBef>
                <a:spcPts val="1000"/>
              </a:spcBef>
            </a:pP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membangun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rekomendasi</a:t>
            </a:r>
            <a:r>
              <a:rPr lang="en-ID" dirty="0"/>
              <a:t> </a:t>
            </a:r>
            <a:r>
              <a:rPr lang="en-ID" dirty="0" err="1"/>
              <a:t>berbasis</a:t>
            </a:r>
            <a:r>
              <a:rPr lang="en-ID" dirty="0"/>
              <a:t> embedding?</a:t>
            </a:r>
          </a:p>
          <a:p>
            <a:pPr marL="171450" indent="-171450">
              <a:spcBef>
                <a:spcPts val="1000"/>
              </a:spcBef>
            </a:pP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merancang</a:t>
            </a:r>
            <a:r>
              <a:rPr lang="en-ID" dirty="0"/>
              <a:t> </a:t>
            </a:r>
            <a:r>
              <a:rPr lang="en-ID" dirty="0" err="1"/>
              <a:t>prototipe</a:t>
            </a:r>
            <a:r>
              <a:rPr lang="en-ID" dirty="0"/>
              <a:t> yang </a:t>
            </a:r>
            <a:r>
              <a:rPr lang="en-ID" dirty="0" err="1"/>
              <a:t>interaktif</a:t>
            </a:r>
            <a:r>
              <a:rPr lang="en-ID" dirty="0"/>
              <a:t> dan </a:t>
            </a:r>
            <a:r>
              <a:rPr lang="en-ID" dirty="0" err="1"/>
              <a:t>sederhana</a:t>
            </a:r>
            <a:r>
              <a:rPr lang="en-ID" dirty="0"/>
              <a:t>?</a:t>
            </a:r>
          </a:p>
          <a:p>
            <a:pPr marL="171450" indent="-171450">
              <a:spcBef>
                <a:spcPts val="1000"/>
              </a:spcBef>
            </a:pPr>
            <a:endParaRPr lang="en-ID" dirty="0"/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118A254-C4DF-429C-94AF-7BB98DD95467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3440" r="2344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8810769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" fill="hold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" fill="hold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" fill="hold"/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" fill="hold"/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" fill="hold"/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" fill="hold"/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2391900" y="2409526"/>
            <a:ext cx="43602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3200" dirty="0" err="1"/>
              <a:t>Tujuan</a:t>
            </a:r>
            <a:r>
              <a:rPr lang="en-ID" sz="3200" dirty="0"/>
              <a:t> </a:t>
            </a:r>
            <a:r>
              <a:rPr lang="en-ID" sz="3200" dirty="0" err="1"/>
              <a:t>Penelitian</a:t>
            </a:r>
            <a:endParaRPr lang="en-ID" sz="3200" dirty="0"/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4027149" y="1352695"/>
            <a:ext cx="1244097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243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2126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54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800" dirty="0" err="1"/>
              <a:t>Tujuan</a:t>
            </a:r>
            <a:r>
              <a:rPr lang="en-ID" sz="2800" dirty="0"/>
              <a:t> </a:t>
            </a:r>
            <a:r>
              <a:rPr lang="en-ID" sz="2800" dirty="0" err="1"/>
              <a:t>Penelitian</a:t>
            </a:r>
            <a:endParaRPr dirty="0"/>
          </a:p>
        </p:txBody>
      </p:sp>
      <p:sp>
        <p:nvSpPr>
          <p:cNvPr id="257" name="Google Shape;257;p30"/>
          <p:cNvSpPr txBox="1">
            <a:spLocks noGrp="1"/>
          </p:cNvSpPr>
          <p:nvPr>
            <p:ph type="body" idx="1"/>
          </p:nvPr>
        </p:nvSpPr>
        <p:spPr>
          <a:xfrm>
            <a:off x="720000" y="1230583"/>
            <a:ext cx="4549500" cy="25614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spcBef>
                <a:spcPts val="1000"/>
              </a:spcBef>
            </a:pPr>
            <a:r>
              <a:rPr lang="en-ID" dirty="0" err="1"/>
              <a:t>Mengembangkan</a:t>
            </a:r>
            <a:r>
              <a:rPr lang="en-ID" dirty="0"/>
              <a:t> website </a:t>
            </a:r>
            <a:r>
              <a:rPr lang="en-ID" dirty="0" err="1"/>
              <a:t>rekomendasi</a:t>
            </a:r>
            <a:r>
              <a:rPr lang="en-ID" dirty="0"/>
              <a:t> </a:t>
            </a:r>
            <a:r>
              <a:rPr lang="en-ID" dirty="0" err="1"/>
              <a:t>buku</a:t>
            </a:r>
            <a:r>
              <a:rPr lang="en-ID" dirty="0"/>
              <a:t> yang </a:t>
            </a:r>
            <a:r>
              <a:rPr lang="en-ID" dirty="0" err="1"/>
              <a:t>mampu</a:t>
            </a:r>
            <a:r>
              <a:rPr lang="en-ID" dirty="0"/>
              <a:t> </a:t>
            </a:r>
            <a:r>
              <a:rPr lang="en-ID" dirty="0" err="1"/>
              <a:t>menyarankan</a:t>
            </a:r>
            <a:r>
              <a:rPr lang="en-ID" dirty="0"/>
              <a:t> </a:t>
            </a:r>
            <a:r>
              <a:rPr lang="en-ID" dirty="0" err="1"/>
              <a:t>buku</a:t>
            </a:r>
            <a:r>
              <a:rPr lang="en-ID" dirty="0"/>
              <a:t> lain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kemiripan</a:t>
            </a:r>
            <a:r>
              <a:rPr lang="en-ID" dirty="0"/>
              <a:t> </a:t>
            </a:r>
            <a:r>
              <a:rPr lang="en-ID" dirty="0" err="1"/>
              <a:t>makna</a:t>
            </a:r>
            <a:r>
              <a:rPr lang="en-ID" dirty="0"/>
              <a:t> </a:t>
            </a:r>
            <a:r>
              <a:rPr lang="en-ID" dirty="0" err="1"/>
              <a:t>konten</a:t>
            </a:r>
            <a:r>
              <a:rPr lang="en-ID" dirty="0"/>
              <a:t>.</a:t>
            </a:r>
          </a:p>
          <a:p>
            <a:pPr marL="171450" indent="-171450">
              <a:spcBef>
                <a:spcPts val="1000"/>
              </a:spcBef>
            </a:pPr>
            <a:r>
              <a:rPr lang="en-ID" dirty="0" err="1"/>
              <a:t>Menerapkan</a:t>
            </a:r>
            <a:r>
              <a:rPr lang="en-ID" dirty="0"/>
              <a:t> </a:t>
            </a:r>
            <a:r>
              <a:rPr lang="en-ID" dirty="0" err="1"/>
              <a:t>pendekatan</a:t>
            </a:r>
            <a:r>
              <a:rPr lang="en-ID" dirty="0"/>
              <a:t> </a:t>
            </a:r>
            <a:r>
              <a:rPr lang="en-ID" b="1" dirty="0"/>
              <a:t>Content-Based Filtering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memanfaatkan</a:t>
            </a:r>
            <a:r>
              <a:rPr lang="en-ID" dirty="0"/>
              <a:t> </a:t>
            </a:r>
            <a:r>
              <a:rPr lang="en-ID" dirty="0" err="1"/>
              <a:t>judul</a:t>
            </a:r>
            <a:r>
              <a:rPr lang="en-ID" dirty="0"/>
              <a:t> dan </a:t>
            </a:r>
            <a:r>
              <a:rPr lang="en-ID" dirty="0" err="1"/>
              <a:t>deskripsi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sumber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.</a:t>
            </a:r>
          </a:p>
          <a:p>
            <a:pPr marL="171450" indent="-171450">
              <a:spcBef>
                <a:spcPts val="1000"/>
              </a:spcBef>
            </a:pPr>
            <a:r>
              <a:rPr lang="en-ID" dirty="0" err="1"/>
              <a:t>Menyediakan</a:t>
            </a:r>
            <a:r>
              <a:rPr lang="en-ID" dirty="0"/>
              <a:t> </a:t>
            </a:r>
            <a:r>
              <a:rPr lang="en-ID" dirty="0" err="1"/>
              <a:t>prototipe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web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dijadikan</a:t>
            </a:r>
            <a:r>
              <a:rPr lang="en-ID" dirty="0"/>
              <a:t> </a:t>
            </a:r>
            <a:r>
              <a:rPr lang="en-ID" dirty="0" err="1"/>
              <a:t>dasar</a:t>
            </a:r>
            <a:r>
              <a:rPr lang="en-ID" dirty="0"/>
              <a:t> </a:t>
            </a:r>
            <a:r>
              <a:rPr lang="en-ID" dirty="0" err="1"/>
              <a:t>pengembangan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lanjut</a:t>
            </a:r>
            <a:r>
              <a:rPr lang="en-ID" dirty="0"/>
              <a:t> oleh </a:t>
            </a:r>
            <a:r>
              <a:rPr lang="en-ID" dirty="0" err="1"/>
              <a:t>pengembang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Gramedia.</a:t>
            </a:r>
          </a:p>
          <a:p>
            <a:pPr marL="171450" indent="-171450">
              <a:spcBef>
                <a:spcPts val="1000"/>
              </a:spcBef>
            </a:pPr>
            <a:endParaRPr lang="en-ID" dirty="0"/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A2450C18-8669-450B-AE7B-1EB5718BC480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 rotWithShape="1">
          <a:blip r:embed="rId3"/>
          <a:srcRect t="29400"/>
          <a:stretch/>
        </p:blipFill>
        <p:spPr>
          <a:xfrm>
            <a:off x="5831400" y="756200"/>
            <a:ext cx="2526600" cy="3699600"/>
          </a:xfrm>
        </p:spPr>
      </p:pic>
    </p:spTree>
    <p:extLst>
      <p:ext uri="{BB962C8B-B14F-4D97-AF65-F5344CB8AC3E}">
        <p14:creationId xmlns:p14="http://schemas.microsoft.com/office/powerpoint/2010/main" val="18447870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" fill="hold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" fill="hold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" fill="hold"/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" fill="hold"/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" fill="hold"/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" fill="hold"/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2391900" y="2409526"/>
            <a:ext cx="43602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3200" dirty="0" err="1"/>
              <a:t>Manfaat</a:t>
            </a:r>
            <a:r>
              <a:rPr lang="en-ID" sz="3200" dirty="0"/>
              <a:t> </a:t>
            </a:r>
            <a:r>
              <a:rPr lang="en-ID" sz="3200" dirty="0" err="1"/>
              <a:t>Penelitian</a:t>
            </a:r>
            <a:endParaRPr lang="en-ID" sz="3200" dirty="0"/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4027149" y="1352695"/>
            <a:ext cx="1244097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grpSp>
        <p:nvGrpSpPr>
          <p:cNvPr id="243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4216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54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800" dirty="0" err="1"/>
              <a:t>Manfaat</a:t>
            </a:r>
            <a:r>
              <a:rPr lang="en-ID" sz="2800" dirty="0"/>
              <a:t> </a:t>
            </a:r>
            <a:r>
              <a:rPr lang="en-ID" sz="2800" dirty="0" err="1"/>
              <a:t>Penelitian</a:t>
            </a:r>
            <a:endParaRPr dirty="0"/>
          </a:p>
        </p:txBody>
      </p:sp>
      <p:sp>
        <p:nvSpPr>
          <p:cNvPr id="257" name="Google Shape;257;p30"/>
          <p:cNvSpPr txBox="1">
            <a:spLocks noGrp="1"/>
          </p:cNvSpPr>
          <p:nvPr>
            <p:ph type="body" idx="1"/>
          </p:nvPr>
        </p:nvSpPr>
        <p:spPr>
          <a:xfrm>
            <a:off x="720000" y="1230583"/>
            <a:ext cx="4549500" cy="25614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sz="1800" u="sng" dirty="0" err="1"/>
              <a:t>Manfaat</a:t>
            </a:r>
            <a:r>
              <a:rPr lang="en-US" sz="1800" u="sng" dirty="0"/>
              <a:t> </a:t>
            </a:r>
            <a:r>
              <a:rPr lang="en-US" sz="1800" u="sng" dirty="0" err="1"/>
              <a:t>Praktis</a:t>
            </a:r>
            <a:endParaRPr lang="en-US" sz="1800" u="sng" dirty="0"/>
          </a:p>
          <a:p>
            <a:pPr marL="171450" indent="-171450">
              <a:spcBef>
                <a:spcPts val="1000"/>
              </a:spcBef>
            </a:pP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kemudahan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Gramedia daring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menemukan</a:t>
            </a:r>
            <a:r>
              <a:rPr lang="en-ID" dirty="0"/>
              <a:t> </a:t>
            </a:r>
            <a:r>
              <a:rPr lang="en-ID" dirty="0" err="1"/>
              <a:t>buku</a:t>
            </a:r>
            <a:r>
              <a:rPr lang="en-ID" dirty="0"/>
              <a:t> yang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berbasis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rekomendasi</a:t>
            </a:r>
            <a:endParaRPr lang="en-ID" dirty="0"/>
          </a:p>
          <a:p>
            <a:pPr marL="171450" indent="-171450">
              <a:spcBef>
                <a:spcPts val="1000"/>
              </a:spcBef>
            </a:pP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pengalaman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, </a:t>
            </a:r>
            <a:r>
              <a:rPr lang="en-ID" dirty="0" err="1"/>
              <a:t>memperkuat</a:t>
            </a:r>
            <a:r>
              <a:rPr lang="en-ID" dirty="0"/>
              <a:t> </a:t>
            </a:r>
            <a:r>
              <a:rPr lang="en-ID" dirty="0" err="1"/>
              <a:t>retensi</a:t>
            </a:r>
            <a:r>
              <a:rPr lang="en-ID" dirty="0"/>
              <a:t> </a:t>
            </a:r>
            <a:r>
              <a:rPr lang="en-ID" dirty="0" err="1"/>
              <a:t>pelanggan</a:t>
            </a:r>
            <a:r>
              <a:rPr lang="en-ID" dirty="0"/>
              <a:t>, dan </a:t>
            </a:r>
            <a:r>
              <a:rPr lang="en-ID" dirty="0" err="1"/>
              <a:t>berpotensi</a:t>
            </a:r>
            <a:r>
              <a:rPr lang="en-ID" dirty="0"/>
              <a:t> </a:t>
            </a:r>
            <a:r>
              <a:rPr lang="en-ID" dirty="0" err="1"/>
              <a:t>menaikkan</a:t>
            </a:r>
            <a:r>
              <a:rPr lang="en-ID" dirty="0"/>
              <a:t> </a:t>
            </a:r>
            <a:r>
              <a:rPr lang="en-ID" dirty="0" err="1"/>
              <a:t>penjualan</a:t>
            </a:r>
            <a:r>
              <a:rPr lang="en-ID" dirty="0"/>
              <a:t>.</a:t>
            </a:r>
          </a:p>
          <a:p>
            <a:pPr marL="171450" indent="-171450">
              <a:spcBef>
                <a:spcPts val="1000"/>
              </a:spcBef>
            </a:pP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referensi</a:t>
            </a:r>
            <a:r>
              <a:rPr lang="en-ID" dirty="0"/>
              <a:t> </a:t>
            </a:r>
            <a:r>
              <a:rPr lang="en-ID" dirty="0" err="1"/>
              <a:t>teknis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pengembang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yang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menerapkan</a:t>
            </a:r>
            <a:r>
              <a:rPr lang="en-ID" dirty="0"/>
              <a:t> </a:t>
            </a:r>
            <a:r>
              <a:rPr lang="en-ID" b="1" dirty="0"/>
              <a:t>NLP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rekomendasi</a:t>
            </a:r>
            <a:r>
              <a:rPr lang="en-ID" dirty="0"/>
              <a:t>.</a:t>
            </a:r>
            <a:endParaRPr lang="en-ID" u="sng" dirty="0"/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2938C417-0DB0-4783-A88E-31355C6872C4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 rotWithShape="1">
          <a:blip r:embed="rId3"/>
          <a:srcRect l="35220" r="11660"/>
          <a:stretch/>
        </p:blipFill>
        <p:spPr>
          <a:xfrm>
            <a:off x="5831400" y="756200"/>
            <a:ext cx="2526600" cy="3699600"/>
          </a:xfrm>
        </p:spPr>
      </p:pic>
    </p:spTree>
    <p:extLst>
      <p:ext uri="{BB962C8B-B14F-4D97-AF65-F5344CB8AC3E}">
        <p14:creationId xmlns:p14="http://schemas.microsoft.com/office/powerpoint/2010/main" val="37227352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" fill="hold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" fill="hold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" fill="hold"/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" fill="hold"/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" fill="hold"/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" fill="hold"/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" fill="hold"/>
                                        <p:tgtEl>
                                          <p:spTgt spid="2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" fill="hold"/>
                                        <p:tgtEl>
                                          <p:spTgt spid="2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54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800" dirty="0" err="1"/>
              <a:t>Manfaat</a:t>
            </a:r>
            <a:r>
              <a:rPr lang="en-ID" sz="2800" dirty="0"/>
              <a:t> </a:t>
            </a:r>
            <a:r>
              <a:rPr lang="en-ID" sz="2800" dirty="0" err="1"/>
              <a:t>Penelitian</a:t>
            </a:r>
            <a:endParaRPr dirty="0"/>
          </a:p>
        </p:txBody>
      </p:sp>
      <p:sp>
        <p:nvSpPr>
          <p:cNvPr id="257" name="Google Shape;257;p30"/>
          <p:cNvSpPr txBox="1">
            <a:spLocks noGrp="1"/>
          </p:cNvSpPr>
          <p:nvPr>
            <p:ph type="body" idx="1"/>
          </p:nvPr>
        </p:nvSpPr>
        <p:spPr>
          <a:xfrm>
            <a:off x="720000" y="1230583"/>
            <a:ext cx="4549500" cy="25614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sz="1800" u="sng" dirty="0" err="1"/>
              <a:t>Manfaat</a:t>
            </a:r>
            <a:r>
              <a:rPr lang="en-US" sz="1800" u="sng" dirty="0"/>
              <a:t> </a:t>
            </a:r>
            <a:r>
              <a:rPr lang="en-US" sz="1800" u="sng" dirty="0" err="1"/>
              <a:t>Teoritis</a:t>
            </a:r>
          </a:p>
          <a:p>
            <a:pPr marL="171450" indent="-171450">
              <a:spcBef>
                <a:spcPts val="1000"/>
              </a:spcBef>
            </a:pP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kontribusi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dunia </a:t>
            </a:r>
            <a:r>
              <a:rPr lang="en-ID" dirty="0" err="1"/>
              <a:t>akademik</a:t>
            </a:r>
            <a:r>
              <a:rPr lang="en-ID" dirty="0"/>
              <a:t>, </a:t>
            </a:r>
            <a:r>
              <a:rPr lang="en-ID" dirty="0" err="1"/>
              <a:t>khususnya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di </a:t>
            </a:r>
            <a:r>
              <a:rPr lang="en-ID" dirty="0" err="1"/>
              <a:t>bidang</a:t>
            </a:r>
            <a:r>
              <a:rPr lang="en-ID" dirty="0"/>
              <a:t> </a:t>
            </a:r>
            <a:r>
              <a:rPr lang="en-ID" b="1" dirty="0"/>
              <a:t>NLP</a:t>
            </a:r>
          </a:p>
          <a:p>
            <a:pPr marL="171450" indent="-171450">
              <a:spcBef>
                <a:spcPts val="1000"/>
              </a:spcBef>
            </a:pPr>
            <a:r>
              <a:rPr lang="sv-SE" dirty="0"/>
              <a:t>Dapat dimanfaatkan sebagai bahan ajar, pengembangan kurikulum, serta referensi penelitian lanjutan</a:t>
            </a:r>
          </a:p>
          <a:p>
            <a:pPr marL="171450" indent="-171450">
              <a:spcBef>
                <a:spcPts val="1000"/>
              </a:spcBef>
            </a:pP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dirty="0" err="1"/>
              <a:t>pengembangan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rekomendasi</a:t>
            </a:r>
            <a:r>
              <a:rPr lang="en-ID" dirty="0"/>
              <a:t> </a:t>
            </a:r>
            <a:r>
              <a:rPr lang="en-ID" dirty="0" err="1"/>
              <a:t>berbasis</a:t>
            </a:r>
            <a:r>
              <a:rPr lang="en-ID" dirty="0"/>
              <a:t> </a:t>
            </a:r>
            <a:r>
              <a:rPr lang="en-ID" b="1" dirty="0"/>
              <a:t>Content-Based Filtering</a:t>
            </a:r>
            <a:r>
              <a:rPr lang="en-ID" dirty="0"/>
              <a:t> dan </a:t>
            </a:r>
            <a:r>
              <a:rPr lang="en-ID" b="1" dirty="0"/>
              <a:t>text embedding</a:t>
            </a:r>
            <a:r>
              <a:rPr lang="en-ID" dirty="0"/>
              <a:t>.</a:t>
            </a:r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EF7FD3BD-F1F6-4A6E-B2D9-72AE701FDD9D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3440" r="2344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177006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" fill="hold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" fill="hold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" fill="hold"/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" fill="hold"/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" fill="hold"/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" fill="hold"/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" fill="hold"/>
                                        <p:tgtEl>
                                          <p:spTgt spid="2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" fill="hold"/>
                                        <p:tgtEl>
                                          <p:spTgt spid="2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5"/>
          <p:cNvSpPr txBox="1">
            <a:spLocks noGrp="1"/>
          </p:cNvSpPr>
          <p:nvPr>
            <p:ph type="ctrTitle"/>
          </p:nvPr>
        </p:nvSpPr>
        <p:spPr>
          <a:xfrm>
            <a:off x="2382300" y="1870741"/>
            <a:ext cx="43794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</a:t>
            </a:r>
            <a:endParaRPr dirty="0"/>
          </a:p>
        </p:txBody>
      </p:sp>
      <p:sp>
        <p:nvSpPr>
          <p:cNvPr id="548" name="Google Shape;548;p45"/>
          <p:cNvSpPr txBox="1"/>
          <p:nvPr/>
        </p:nvSpPr>
        <p:spPr>
          <a:xfrm>
            <a:off x="2382300" y="4031375"/>
            <a:ext cx="4379400" cy="4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rPr>
              <a:t>Please keep this slide for attribution</a:t>
            </a:r>
            <a:endParaRPr sz="1000" dirty="0">
              <a:solidFill>
                <a:schemeClr val="dk1"/>
              </a:solidFill>
              <a:latin typeface="Kanit Light"/>
              <a:ea typeface="Kanit Light"/>
              <a:cs typeface="Kanit Light"/>
              <a:sym typeface="Kanit Light"/>
            </a:endParaRPr>
          </a:p>
        </p:txBody>
      </p:sp>
      <p:grpSp>
        <p:nvGrpSpPr>
          <p:cNvPr id="560" name="Google Shape;560;p45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561" name="Google Shape;561;p45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562" name="Google Shape;562;p45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563" name="Google Shape;563;p45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564" name="Google Shape;564;p45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565" name="Google Shape;565;p45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566" name="Google Shape;566;p45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567" name="Google Shape;567;p45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568" name="Google Shape;568;p45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569" name="Google Shape;569;p45"/>
          <p:cNvGrpSpPr/>
          <p:nvPr/>
        </p:nvGrpSpPr>
        <p:grpSpPr>
          <a:xfrm>
            <a:off x="1225675" y="2319125"/>
            <a:ext cx="74100" cy="1788450"/>
            <a:chOff x="8657175" y="772575"/>
            <a:chExt cx="74100" cy="1788450"/>
          </a:xfrm>
        </p:grpSpPr>
        <p:sp>
          <p:nvSpPr>
            <p:cNvPr id="570" name="Google Shape;570;p45"/>
            <p:cNvSpPr/>
            <p:nvPr/>
          </p:nvSpPr>
          <p:spPr>
            <a:xfrm>
              <a:off x="8657175" y="77257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571" name="Google Shape;571;p45"/>
            <p:cNvSpPr/>
            <p:nvPr/>
          </p:nvSpPr>
          <p:spPr>
            <a:xfrm>
              <a:off x="8657175" y="2304150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572" name="Google Shape;572;p45"/>
            <p:cNvSpPr/>
            <p:nvPr/>
          </p:nvSpPr>
          <p:spPr>
            <a:xfrm>
              <a:off x="8657175" y="248392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573" name="Google Shape;573;p45"/>
          <p:cNvGrpSpPr/>
          <p:nvPr/>
        </p:nvGrpSpPr>
        <p:grpSpPr>
          <a:xfrm>
            <a:off x="205650" y="308475"/>
            <a:ext cx="150300" cy="378950"/>
            <a:chOff x="205650" y="308475"/>
            <a:chExt cx="150300" cy="378950"/>
          </a:xfrm>
        </p:grpSpPr>
        <p:sp>
          <p:nvSpPr>
            <p:cNvPr id="574" name="Google Shape;574;p45"/>
            <p:cNvSpPr/>
            <p:nvPr/>
          </p:nvSpPr>
          <p:spPr>
            <a:xfrm>
              <a:off x="205650" y="30847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575" name="Google Shape;575;p45"/>
            <p:cNvSpPr/>
            <p:nvPr/>
          </p:nvSpPr>
          <p:spPr>
            <a:xfrm>
              <a:off x="281850" y="460900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576" name="Google Shape;576;p45"/>
            <p:cNvSpPr/>
            <p:nvPr/>
          </p:nvSpPr>
          <p:spPr>
            <a:xfrm>
              <a:off x="205650" y="61332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Game Design Agency by Slidesgo">
  <a:themeElements>
    <a:clrScheme name="Simple Light">
      <a:dk1>
        <a:srgbClr val="FFFFFF"/>
      </a:dk1>
      <a:lt1>
        <a:srgbClr val="000000"/>
      </a:lt1>
      <a:dk2>
        <a:srgbClr val="DD3D6E"/>
      </a:dk2>
      <a:lt2>
        <a:srgbClr val="6ABFD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513</Words>
  <Application>Microsoft Office PowerPoint</Application>
  <PresentationFormat>On-screen Show (16:9)</PresentationFormat>
  <Paragraphs>95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Orbitron</vt:lpstr>
      <vt:lpstr>Raleway</vt:lpstr>
      <vt:lpstr>Kanit</vt:lpstr>
      <vt:lpstr>Arial</vt:lpstr>
      <vt:lpstr>Kanit Light</vt:lpstr>
      <vt:lpstr>Open Sans Light</vt:lpstr>
      <vt:lpstr>Game Design Agency by Slidesgo</vt:lpstr>
      <vt:lpstr>Implementasi Semantic Search dalam Sistem Rekomendasi Buku di Gramedia</vt:lpstr>
      <vt:lpstr>Table of contents</vt:lpstr>
      <vt:lpstr>Who I am?</vt:lpstr>
      <vt:lpstr>Latar Belakang</vt:lpstr>
      <vt:lpstr>Latar Belakang</vt:lpstr>
      <vt:lpstr>Latar Belakang</vt:lpstr>
      <vt:lpstr>Latar Belakang</vt:lpstr>
      <vt:lpstr>Identifikasi Masalah</vt:lpstr>
      <vt:lpstr>Identifikasi Masalah</vt:lpstr>
      <vt:lpstr>Batasan Masalah</vt:lpstr>
      <vt:lpstr>Batasan Masalah</vt:lpstr>
      <vt:lpstr>Rumusan Masalah</vt:lpstr>
      <vt:lpstr>Rumusan Masalah</vt:lpstr>
      <vt:lpstr>Tujuan Penelitian</vt:lpstr>
      <vt:lpstr>Tujuan Penelitian</vt:lpstr>
      <vt:lpstr>Manfaat Penelitian</vt:lpstr>
      <vt:lpstr>Manfaat Penelitian</vt:lpstr>
      <vt:lpstr>Manfaat Penelitian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Implementasi Semantic Search dalam Sistem Rekomendasi Buku di Gramedia</dc:title>
  <cp:lastModifiedBy>Gemitry</cp:lastModifiedBy>
  <cp:revision>13</cp:revision>
  <dcterms:modified xsi:type="dcterms:W3CDTF">2025-07-09T13:19:56Z</dcterms:modified>
</cp:coreProperties>
</file>